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 autoAdjust="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3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5800" y="960120"/>
            <a:ext cx="10789920" cy="4114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100" b="1">
                <a:solidFill>
                  <a:srgbClr val="37D2FF"/>
                </a:solidFill>
                <a:latin typeface="Aptos"/>
              </a:defRPr>
            </a:pPr>
            <a:r>
              <a:t>PROJECT 35  •  DATABASE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515600" cy="12344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3600" b="1">
                <a:solidFill>
                  <a:srgbClr val="F5F7FF"/>
                </a:solidFill>
                <a:latin typeface="Aptos"/>
              </a:defRPr>
            </a:pPr>
            <a:r>
              <a:t>Internship Application &amp;</a:t>
            </a:r>
            <a:br/>
            <a:r>
              <a:t>Progress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926080"/>
            <a:ext cx="8686800" cy="5486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600" b="0">
                <a:solidFill>
                  <a:srgbClr val="B0B8DC"/>
                </a:solidFill>
                <a:latin typeface="Aptos"/>
              </a:defRPr>
            </a:pPr>
            <a:r>
              <a:t>REVIEW 2  |  Database Implementation, Normalization &amp; Working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023360"/>
            <a:ext cx="1874520" cy="430887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2200" b="1">
                <a:solidFill>
                  <a:srgbClr val="F5F7FF"/>
                </a:solidFill>
                <a:latin typeface="Aptos"/>
              </a:defRPr>
            </a:pP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1874520" cy="2286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900" b="0">
                <a:solidFill>
                  <a:srgbClr val="B0B8DC"/>
                </a:solidFill>
                <a:latin typeface="Aptos"/>
              </a:defRPr>
            </a:pP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3200400" y="4389120"/>
            <a:ext cx="1874520" cy="2286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900" b="0">
                <a:solidFill>
                  <a:srgbClr val="B0B8DC"/>
                </a:solidFill>
                <a:latin typeface="Aptos"/>
              </a:defRPr>
            </a:pP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731520" y="5715000"/>
            <a:ext cx="10332720" cy="4114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200" b="0">
                <a:solidFill>
                  <a:srgbClr val="B0B8DC"/>
                </a:solidFill>
                <a:latin typeface="Aptos"/>
              </a:defRPr>
            </a:pPr>
            <a:r>
              <a:rPr dirty="0" err="1"/>
              <a:t>B.Tech</a:t>
            </a:r>
            <a:r>
              <a:rPr dirty="0"/>
              <a:t> CSE • </a:t>
            </a:r>
            <a:r>
              <a:rPr dirty="0" err="1"/>
              <a:t>Woxsen</a:t>
            </a:r>
            <a:r>
              <a:rPr dirty="0"/>
              <a:t> University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0B8DC"/>
                </a:solidFill>
                <a:latin typeface="Aptos"/>
              </a:defRPr>
            </a:pPr>
            <a:r>
              <a:rPr dirty="0"/>
              <a:t>INTERNSHIP APPLICATION &amp; PROGRESS MONITORING SYSTEM   •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94360" y="2286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7D2FF"/>
                </a:solidFill>
                <a:latin typeface="Aptos"/>
              </a:defRPr>
            </a:pPr>
            <a:r>
              <a:t>PROJECT 35 •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 Display"/>
              </a:defRPr>
            </a:pPr>
            <a:r>
              <a:t>Review 2 — Implementation 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0B8DC"/>
                </a:solidFill>
                <a:latin typeface="Aptos"/>
              </a:defRPr>
            </a:pPr>
            <a:r>
              <a:t>Moving from conceptual design to a working, constrained relational database and prototype.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166360" cy="1600200"/>
          </a:xfrm>
          <a:prstGeom prst="roundRect">
            <a:avLst/>
          </a:prstGeom>
          <a:solidFill>
            <a:srgbClr val="141832"/>
          </a:solidFill>
          <a:ln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993392"/>
            <a:ext cx="502920" cy="3200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600" b="1">
                <a:solidFill>
                  <a:srgbClr val="37D2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965960"/>
            <a:ext cx="4069080" cy="3200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NORMALIZATION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395728"/>
            <a:ext cx="4069080" cy="6400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100" b="0">
                <a:solidFill>
                  <a:srgbClr val="B0B8DC"/>
                </a:solidFill>
                <a:latin typeface="Aptos"/>
              </a:defRPr>
            </a:pPr>
            <a:r>
              <a:t>3NF structure and functional dependencies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5166360" cy="1600200"/>
          </a:xfrm>
          <a:prstGeom prst="roundRect">
            <a:avLst/>
          </a:prstGeom>
          <a:solidFill>
            <a:srgbClr val="141832"/>
          </a:solidFill>
          <a:ln>
            <a:solidFill>
              <a:srgbClr val="845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993392"/>
            <a:ext cx="502920" cy="3200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600" b="1">
                <a:solidFill>
                  <a:srgbClr val="8458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965960"/>
            <a:ext cx="4069080" cy="3200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395728"/>
            <a:ext cx="4069080" cy="6400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100" b="0">
                <a:solidFill>
                  <a:srgbClr val="B0B8DC"/>
                </a:solidFill>
                <a:latin typeface="Aptos"/>
              </a:defRPr>
            </a:pPr>
            <a:r>
              <a:t>DDL, keys, constraints and realistic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94760"/>
            <a:ext cx="5166360" cy="1600200"/>
          </a:xfrm>
          <a:prstGeom prst="roundRect">
            <a:avLst/>
          </a:prstGeom>
          <a:solidFill>
            <a:srgbClr val="141832"/>
          </a:solidFill>
          <a:ln>
            <a:solidFill>
              <a:srgbClr val="EC5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59" y="3959352"/>
            <a:ext cx="502920" cy="3200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600" b="1">
                <a:solidFill>
                  <a:srgbClr val="EC54A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3931920"/>
            <a:ext cx="4069080" cy="3200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QUERIES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4361688"/>
            <a:ext cx="4069080" cy="6400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100" b="0">
                <a:solidFill>
                  <a:srgbClr val="B0B8DC"/>
                </a:solidFill>
                <a:latin typeface="Aptos"/>
              </a:defRPr>
            </a:pPr>
            <a:r>
              <a:t>JOINs, aggregation, reports and views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94760"/>
            <a:ext cx="5166360" cy="1600200"/>
          </a:xfrm>
          <a:prstGeom prst="roundRect">
            <a:avLst/>
          </a:prstGeom>
          <a:solidFill>
            <a:srgbClr val="141832"/>
          </a:solidFill>
          <a:ln>
            <a:solidFill>
              <a:srgbClr val="44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959352"/>
            <a:ext cx="502920" cy="3200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600" b="1">
                <a:solidFill>
                  <a:srgbClr val="44DC9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931920"/>
            <a:ext cx="4069080" cy="3200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61688"/>
            <a:ext cx="4069080" cy="6400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100" b="0">
                <a:solidFill>
                  <a:srgbClr val="B0B8DC"/>
                </a:solidFill>
                <a:latin typeface="Aptos"/>
              </a:defRPr>
            </a:pPr>
            <a:r>
              <a:t>Flask + MySQL integration and authentication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715000"/>
            <a:ext cx="10789920" cy="4114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200" b="1">
                <a:solidFill>
                  <a:srgbClr val="F5F7FF"/>
                </a:solidFill>
                <a:latin typeface="Aptos"/>
              </a:defRPr>
            </a:pPr>
            <a:r>
              <a:t>Implementation status: core database + student-facing workflow + admin reporting are integrated.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0B8DC"/>
                </a:solidFill>
                <a:latin typeface="Aptos"/>
              </a:defRPr>
            </a:pPr>
            <a:r>
              <a:t>INTERNSHIP APPLICATION &amp; PROGRESS MONITORING SYSTEM   •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94360" y="2286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7D2FF"/>
                </a:solidFill>
                <a:latin typeface="Aptos"/>
              </a:defRPr>
            </a:pPr>
            <a:r>
              <a:t>PROJECT 35 •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0B8DC"/>
                </a:solidFill>
                <a:latin typeface="Aptos"/>
              </a:defRPr>
            </a:pPr>
            <a:r>
              <a:t>Three layers connect the user interface, application logic and relational database.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10241280" cy="960120"/>
          </a:xfrm>
          <a:prstGeom prst="roundRect">
            <a:avLst/>
          </a:prstGeom>
          <a:solidFill>
            <a:srgbClr val="141832"/>
          </a:solidFill>
          <a:ln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1938528"/>
            <a:ext cx="2103120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100" b="1">
                <a:solidFill>
                  <a:srgbClr val="37D2FF"/>
                </a:solidFill>
                <a:latin typeface="Aptos"/>
              </a:defRPr>
            </a:pPr>
            <a:r>
              <a:t>PRESENTATION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938528"/>
            <a:ext cx="2194560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300" b="1">
                <a:solidFill>
                  <a:srgbClr val="F5F7FF"/>
                </a:solidFill>
                <a:latin typeface="Aptos"/>
              </a:defRPr>
            </a:pPr>
            <a:r>
              <a:t>HTML • CSS • JavaScript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1938528"/>
            <a:ext cx="5303520" cy="502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000" b="0">
                <a:solidFill>
                  <a:srgbClr val="B0B8DC"/>
                </a:solidFill>
                <a:latin typeface="Aptos"/>
              </a:defRPr>
            </a:pPr>
            <a:r>
              <a:t>Home, login, registration, internships, applications, progress,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2798064"/>
            <a:ext cx="1371600" cy="2286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00" b="0">
                <a:solidFill>
                  <a:srgbClr val="B0B8DC"/>
                </a:solidFill>
                <a:latin typeface="Aptos"/>
              </a:defRPr>
            </a:pPr>
            <a:r>
              <a:t>↓  data 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154680"/>
            <a:ext cx="10241280" cy="960120"/>
          </a:xfrm>
          <a:prstGeom prst="roundRect">
            <a:avLst/>
          </a:prstGeom>
          <a:solidFill>
            <a:srgbClr val="141832"/>
          </a:solidFill>
          <a:ln>
            <a:solidFill>
              <a:srgbClr val="845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3264408"/>
            <a:ext cx="2103120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100" b="1">
                <a:solidFill>
                  <a:srgbClr val="8458FF"/>
                </a:solidFill>
                <a:latin typeface="Aptos"/>
              </a:defRPr>
            </a:pPr>
            <a:r>
              <a:t>APPLICATION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264408"/>
            <a:ext cx="2194560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300" b="1">
                <a:solidFill>
                  <a:srgbClr val="F5F7FF"/>
                </a:solidFill>
                <a:latin typeface="Aptos"/>
              </a:defRPr>
            </a:pPr>
            <a:r>
              <a:t>Python • Flask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3264408"/>
            <a:ext cx="5303520" cy="502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000" b="0">
                <a:solidFill>
                  <a:srgbClr val="B0B8DC"/>
                </a:solidFill>
                <a:latin typeface="Aptos"/>
              </a:defRPr>
            </a:pPr>
            <a:r>
              <a:t>Routes, sessions, validation, password hashing, business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4123944"/>
            <a:ext cx="1371600" cy="2286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00" b="0">
                <a:solidFill>
                  <a:srgbClr val="B0B8DC"/>
                </a:solidFill>
                <a:latin typeface="Aptos"/>
              </a:defRPr>
            </a:pPr>
            <a:r>
              <a:t>↓  data 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480560"/>
            <a:ext cx="10241280" cy="960120"/>
          </a:xfrm>
          <a:prstGeom prst="roundRect">
            <a:avLst/>
          </a:prstGeom>
          <a:solidFill>
            <a:srgbClr val="141832"/>
          </a:solidFill>
          <a:ln>
            <a:solidFill>
              <a:srgbClr val="44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4590288"/>
            <a:ext cx="2103120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100" b="1">
                <a:solidFill>
                  <a:srgbClr val="44DC97"/>
                </a:solidFill>
                <a:latin typeface="Aptos"/>
              </a:defRPr>
            </a:pPr>
            <a:r>
              <a:t>DATA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4590288"/>
            <a:ext cx="2194560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300" b="1">
                <a:solidFill>
                  <a:srgbClr val="F5F7FF"/>
                </a:solidFill>
                <a:latin typeface="Aptos"/>
              </a:defRPr>
            </a:pPr>
            <a:r>
              <a:t>MySQL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4590288"/>
            <a:ext cx="5303520" cy="502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000" b="0">
                <a:solidFill>
                  <a:srgbClr val="B0B8DC"/>
                </a:solidFill>
                <a:latin typeface="Aptos"/>
              </a:defRPr>
            </a:pPr>
            <a:r>
              <a:t>12 relational tables, PK/FK constraints, checks, unique rules, SQL views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0B8DC"/>
                </a:solidFill>
                <a:latin typeface="Aptos"/>
              </a:defRPr>
            </a:pPr>
            <a:r>
              <a:t>INTERNSHIP APPLICATION &amp; PROGRESS MONITORING SYSTEM   •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94360" y="2286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7D2FF"/>
                </a:solidFill>
                <a:latin typeface="Aptos"/>
              </a:defRPr>
            </a:pPr>
            <a:r>
              <a:t>PROJECT 35 •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 Display"/>
              </a:defRPr>
            </a:pPr>
            <a:r>
              <a:t>Implemented Relational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0B8DC"/>
                </a:solidFill>
                <a:latin typeface="Aptos"/>
              </a:defRPr>
            </a:pPr>
            <a:r>
              <a:t>The final database contains 12 normalized tables linked through primary and foreign keys.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5212080" cy="566928"/>
          </a:xfrm>
          <a:prstGeom prst="roundRect">
            <a:avLst/>
          </a:prstGeom>
          <a:solidFill>
            <a:srgbClr val="141832"/>
          </a:solidFill>
          <a:ln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965960" cy="25603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000" b="1">
                <a:solidFill>
                  <a:srgbClr val="F5F7FF"/>
                </a:solidFill>
                <a:latin typeface="Aptos"/>
              </a:defRPr>
            </a:pPr>
            <a:r>
              <a:t>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828800"/>
            <a:ext cx="2880360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50" b="0">
                <a:solidFill>
                  <a:srgbClr val="B0B8DC"/>
                </a:solidFill>
                <a:latin typeface="Aptos"/>
              </a:defRPr>
            </a:pPr>
            <a:r>
              <a:t>student_id PK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50591"/>
            <a:ext cx="5212080" cy="566928"/>
          </a:xfrm>
          <a:prstGeom prst="roundRect">
            <a:avLst/>
          </a:prstGeom>
          <a:solidFill>
            <a:srgbClr val="141832"/>
          </a:solidFill>
          <a:ln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542032"/>
            <a:ext cx="1965960" cy="25603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000" b="1">
                <a:solidFill>
                  <a:srgbClr val="F5F7FF"/>
                </a:solidFill>
                <a:latin typeface="Aptos"/>
              </a:defRPr>
            </a:pPr>
            <a:r>
              <a:t>ORGANIZATION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542032"/>
            <a:ext cx="2880360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50" b="0">
                <a:solidFill>
                  <a:srgbClr val="B0B8DC"/>
                </a:solidFill>
                <a:latin typeface="Aptos"/>
              </a:defRPr>
            </a:pPr>
            <a:r>
              <a:t>organization_id PK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163824"/>
            <a:ext cx="5212080" cy="566928"/>
          </a:xfrm>
          <a:prstGeom prst="roundRect">
            <a:avLst/>
          </a:prstGeom>
          <a:solidFill>
            <a:srgbClr val="141832"/>
          </a:solidFill>
          <a:ln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255264"/>
            <a:ext cx="1965960" cy="25603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000" b="1">
                <a:solidFill>
                  <a:srgbClr val="F5F7FF"/>
                </a:solidFill>
                <a:latin typeface="Aptos"/>
              </a:defRPr>
            </a:pPr>
            <a:r>
              <a:t>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255264"/>
            <a:ext cx="2880360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50" b="0">
                <a:solidFill>
                  <a:srgbClr val="B0B8DC"/>
                </a:solidFill>
                <a:latin typeface="Aptos"/>
              </a:defRPr>
            </a:pPr>
            <a:r>
              <a:t>opportunity_id PK • organization_id FK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77056"/>
            <a:ext cx="5212080" cy="566928"/>
          </a:xfrm>
          <a:prstGeom prst="roundRect">
            <a:avLst/>
          </a:prstGeom>
          <a:solidFill>
            <a:srgbClr val="141832"/>
          </a:solidFill>
          <a:ln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968496"/>
            <a:ext cx="1965960" cy="25603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000" b="1">
                <a:solidFill>
                  <a:srgbClr val="F5F7FF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968496"/>
            <a:ext cx="2880360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50" b="0">
                <a:solidFill>
                  <a:srgbClr val="B0B8DC"/>
                </a:solidFill>
                <a:latin typeface="Aptos"/>
              </a:defRPr>
            </a:pPr>
            <a:r>
              <a:t>application_id PK • student_id FK • opportunity_id FK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590288"/>
            <a:ext cx="5212080" cy="566928"/>
          </a:xfrm>
          <a:prstGeom prst="roundRect">
            <a:avLst/>
          </a:prstGeom>
          <a:solidFill>
            <a:srgbClr val="141832"/>
          </a:solidFill>
          <a:ln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681727"/>
            <a:ext cx="1965960" cy="25603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000" b="1">
                <a:solidFill>
                  <a:srgbClr val="F5F7FF"/>
                </a:solidFill>
                <a:latin typeface="Aptos"/>
              </a:defRPr>
            </a:pPr>
            <a:r>
              <a:t>APPROVAL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681727"/>
            <a:ext cx="2880360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50" b="0">
                <a:solidFill>
                  <a:srgbClr val="B0B8DC"/>
                </a:solidFill>
                <a:latin typeface="Aptos"/>
              </a:defRPr>
            </a:pPr>
            <a:r>
              <a:t>approval_id PK • application_id FK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303520"/>
            <a:ext cx="5212080" cy="566928"/>
          </a:xfrm>
          <a:prstGeom prst="roundRect">
            <a:avLst/>
          </a:prstGeom>
          <a:solidFill>
            <a:srgbClr val="141832"/>
          </a:solidFill>
          <a:ln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394960"/>
            <a:ext cx="1965960" cy="25603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000" b="1">
                <a:solidFill>
                  <a:srgbClr val="F5F7FF"/>
                </a:solidFill>
                <a:latin typeface="Aptos"/>
              </a:defRPr>
            </a:pPr>
            <a:r>
              <a:t>FACULTY_MENTOR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5394960"/>
            <a:ext cx="2880360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50" b="0">
                <a:solidFill>
                  <a:srgbClr val="B0B8DC"/>
                </a:solidFill>
                <a:latin typeface="Aptos"/>
              </a:defRPr>
            </a:pPr>
            <a:r>
              <a:t>mentor_id PK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1737360"/>
            <a:ext cx="5212080" cy="566928"/>
          </a:xfrm>
          <a:prstGeom prst="roundRect">
            <a:avLst/>
          </a:prstGeom>
          <a:solidFill>
            <a:srgbClr val="141832"/>
          </a:solidFill>
          <a:ln>
            <a:solidFill>
              <a:srgbClr val="845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1828800"/>
            <a:ext cx="1965960" cy="25603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000" b="1">
                <a:solidFill>
                  <a:srgbClr val="F5F7FF"/>
                </a:solidFill>
                <a:latin typeface="Aptos"/>
              </a:defRPr>
            </a:pPr>
            <a:r>
              <a:t>COMPANY_SUPERVISOR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1828800"/>
            <a:ext cx="2880360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50" b="0">
                <a:solidFill>
                  <a:srgbClr val="B0B8DC"/>
                </a:solidFill>
                <a:latin typeface="Aptos"/>
              </a:defRPr>
            </a:pPr>
            <a:r>
              <a:t>supervisor_id PK • organization_id FK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2450591"/>
            <a:ext cx="5212080" cy="566928"/>
          </a:xfrm>
          <a:prstGeom prst="roundRect">
            <a:avLst/>
          </a:prstGeom>
          <a:solidFill>
            <a:srgbClr val="141832"/>
          </a:solidFill>
          <a:ln>
            <a:solidFill>
              <a:srgbClr val="845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6520" y="2542032"/>
            <a:ext cx="1965960" cy="25603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000" b="1">
                <a:solidFill>
                  <a:srgbClr val="F5F7FF"/>
                </a:solidFill>
                <a:latin typeface="Aptos"/>
              </a:defRPr>
            </a:pPr>
            <a:r>
              <a:t>ASSIGNMENT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2542032"/>
            <a:ext cx="2880360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50" b="0">
                <a:solidFill>
                  <a:srgbClr val="B0B8DC"/>
                </a:solidFill>
                <a:latin typeface="Aptos"/>
              </a:defRPr>
            </a:pPr>
            <a:r>
              <a:t>assignment_id PK • application_id FK • mentor_id FK • supervisor_id FK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163824"/>
            <a:ext cx="5212080" cy="566928"/>
          </a:xfrm>
          <a:prstGeom prst="roundRect">
            <a:avLst/>
          </a:prstGeom>
          <a:solidFill>
            <a:srgbClr val="141832"/>
          </a:solidFill>
          <a:ln>
            <a:solidFill>
              <a:srgbClr val="845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3255264"/>
            <a:ext cx="1965960" cy="25603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000" b="1">
                <a:solidFill>
                  <a:srgbClr val="F5F7FF"/>
                </a:solidFill>
                <a:latin typeface="Aptos"/>
              </a:defRPr>
            </a:pPr>
            <a:r>
              <a:t>WEEKLY_LOG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3255264"/>
            <a:ext cx="2880360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50" b="0">
                <a:solidFill>
                  <a:srgbClr val="B0B8DC"/>
                </a:solidFill>
                <a:latin typeface="Aptos"/>
              </a:defRPr>
            </a:pPr>
            <a:r>
              <a:t>log_id PK • assignment_id FK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3877056"/>
            <a:ext cx="5212080" cy="566928"/>
          </a:xfrm>
          <a:prstGeom prst="roundRect">
            <a:avLst/>
          </a:prstGeom>
          <a:solidFill>
            <a:srgbClr val="141832"/>
          </a:solidFill>
          <a:ln>
            <a:solidFill>
              <a:srgbClr val="845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46520" y="3968496"/>
            <a:ext cx="1965960" cy="25603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000" b="1">
                <a:solidFill>
                  <a:srgbClr val="F5F7FF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3968496"/>
            <a:ext cx="2880360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50" b="0">
                <a:solidFill>
                  <a:srgbClr val="B0B8DC"/>
                </a:solidFill>
                <a:latin typeface="Aptos"/>
              </a:defRPr>
            </a:pPr>
            <a:r>
              <a:t>evaluation_id PK • assignment_id FK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4590288"/>
            <a:ext cx="5212080" cy="566928"/>
          </a:xfrm>
          <a:prstGeom prst="roundRect">
            <a:avLst/>
          </a:prstGeom>
          <a:solidFill>
            <a:srgbClr val="141832"/>
          </a:solidFill>
          <a:ln>
            <a:solidFill>
              <a:srgbClr val="845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46520" y="4681727"/>
            <a:ext cx="1965960" cy="25603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000" b="1">
                <a:solidFill>
                  <a:srgbClr val="F5F7FF"/>
                </a:solidFill>
                <a:latin typeface="Aptos"/>
              </a:defRPr>
            </a:pPr>
            <a:r>
              <a:t>CERTIFICATE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200" y="4681727"/>
            <a:ext cx="2880360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50" b="0">
                <a:solidFill>
                  <a:srgbClr val="B0B8DC"/>
                </a:solidFill>
                <a:latin typeface="Aptos"/>
              </a:defRPr>
            </a:pPr>
            <a:r>
              <a:t>certificate_id PK • assignment_id FK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5303520"/>
            <a:ext cx="5212080" cy="566928"/>
          </a:xfrm>
          <a:prstGeom prst="roundRect">
            <a:avLst/>
          </a:prstGeom>
          <a:solidFill>
            <a:srgbClr val="141832"/>
          </a:solidFill>
          <a:ln>
            <a:solidFill>
              <a:srgbClr val="845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46520" y="5394960"/>
            <a:ext cx="1965960" cy="25603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000" b="1">
                <a:solidFill>
                  <a:srgbClr val="F5F7FF"/>
                </a:solidFill>
                <a:latin typeface="Aptos"/>
              </a:defRPr>
            </a:pPr>
            <a:r>
              <a:t>FEEDBACK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5394960"/>
            <a:ext cx="2880360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50" b="0">
                <a:solidFill>
                  <a:srgbClr val="B0B8DC"/>
                </a:solidFill>
                <a:latin typeface="Aptos"/>
              </a:defRPr>
            </a:pPr>
            <a:r>
              <a:t>feedback_id PK • assignment_id FK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0B8DC"/>
                </a:solidFill>
                <a:latin typeface="Aptos"/>
              </a:defRPr>
            </a:pPr>
            <a:r>
              <a:t>INTERNSHIP APPLICATION &amp; PROGRESS MONITORING SYSTEM   •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4754880" y="2468880"/>
            <a:ext cx="4114800" cy="2560320"/>
          </a:xfrm>
          <a:prstGeom prst="ellipse">
            <a:avLst/>
          </a:prstGeom>
          <a:solidFill>
            <a:srgbClr val="EC5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7D2FF"/>
                </a:solidFill>
                <a:latin typeface="Aptos"/>
              </a:defRPr>
            </a:pPr>
            <a:r>
              <a:t>PROJECT 35 •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 Display"/>
              </a:defRPr>
            </a:pPr>
            <a:r>
              <a:t>Conceptual ER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0B8DC"/>
                </a:solidFill>
                <a:latin typeface="Aptos"/>
              </a:defRPr>
            </a:pPr>
            <a:r>
              <a:t>INTERNSHIP APPLICATION &amp; PROGRESS MONITORING SYSTEM   •   05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8FADAD2-AA88-F79E-0CBA-A7DB65735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814" y="1174375"/>
            <a:ext cx="8381861" cy="52355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94360" y="2286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7D2FF"/>
                </a:solidFill>
                <a:latin typeface="Aptos"/>
              </a:defRPr>
            </a:pPr>
            <a:r>
              <a:t>PROJECT 35 •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 Display"/>
              </a:defRPr>
            </a:pPr>
            <a:r>
              <a:t>Normalization — 3NF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0B8DC"/>
                </a:solidFill>
                <a:latin typeface="Aptos"/>
              </a:defRPr>
            </a:pPr>
            <a:r>
              <a:t>The design separates independent facts and keeps non-key attributes dependent on the appropriate key.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429000" cy="2331720"/>
          </a:xfrm>
          <a:prstGeom prst="roundRect">
            <a:avLst/>
          </a:prstGeom>
          <a:solidFill>
            <a:srgbClr val="141832"/>
          </a:solidFill>
          <a:ln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2057400"/>
            <a:ext cx="2926080" cy="365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2000" b="1">
                <a:solidFill>
                  <a:srgbClr val="37D2FF"/>
                </a:solidFill>
                <a:latin typeface="Aptos"/>
              </a:defRPr>
            </a:pPr>
            <a:r>
              <a:t>1NF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06040"/>
            <a:ext cx="2926080" cy="6400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300" b="1">
                <a:solidFill>
                  <a:srgbClr val="F5F7FF"/>
                </a:solidFill>
                <a:latin typeface="Aptos"/>
              </a:defRPr>
            </a:pPr>
            <a:r>
              <a:t>Atomic attributes</a:t>
            </a:r>
            <a:br/>
            <a:r>
              <a:t>No repeating groups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291840"/>
            <a:ext cx="2926080" cy="5943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000" b="0">
                <a:solidFill>
                  <a:srgbClr val="B0B8DC"/>
                </a:solidFill>
                <a:latin typeface="Aptos"/>
              </a:defRPr>
            </a:pPr>
            <a:r>
              <a:t>Each table stores one value per attribute.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828800"/>
            <a:ext cx="3429000" cy="2331720"/>
          </a:xfrm>
          <a:prstGeom prst="roundRect">
            <a:avLst/>
          </a:prstGeom>
          <a:solidFill>
            <a:srgbClr val="141832"/>
          </a:solidFill>
          <a:ln>
            <a:solidFill>
              <a:srgbClr val="845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057400"/>
            <a:ext cx="2926080" cy="365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2000" b="1">
                <a:solidFill>
                  <a:srgbClr val="8458FF"/>
                </a:solidFill>
                <a:latin typeface="Aptos"/>
              </a:defRPr>
            </a:pPr>
            <a:r>
              <a:t>2NF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606040"/>
            <a:ext cx="2926080" cy="6400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300" b="1">
                <a:solidFill>
                  <a:srgbClr val="F5F7FF"/>
                </a:solidFill>
                <a:latin typeface="Aptos"/>
              </a:defRPr>
            </a:pPr>
            <a:r>
              <a:t>Full dependency on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291840"/>
            <a:ext cx="2926080" cy="5943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000" b="0">
                <a:solidFill>
                  <a:srgbClr val="B0B8DC"/>
                </a:solidFill>
                <a:latin typeface="Aptos"/>
              </a:defRPr>
            </a:pPr>
            <a:r>
              <a:t>Non-key attributes depend on the whole candidate key.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828800"/>
            <a:ext cx="3429000" cy="2331720"/>
          </a:xfrm>
          <a:prstGeom prst="roundRect">
            <a:avLst/>
          </a:prstGeom>
          <a:solidFill>
            <a:srgbClr val="141832"/>
          </a:solidFill>
          <a:ln>
            <a:solidFill>
              <a:srgbClr val="44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2057400"/>
            <a:ext cx="2926080" cy="365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2000" b="1">
                <a:solidFill>
                  <a:srgbClr val="44DC97"/>
                </a:solidFill>
                <a:latin typeface="Aptos"/>
              </a:defRPr>
            </a:pPr>
            <a:r>
              <a:t>3NF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06040"/>
            <a:ext cx="2926080" cy="6400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300" b="1">
                <a:solidFill>
                  <a:srgbClr val="F5F7FF"/>
                </a:solidFill>
                <a:latin typeface="Aptos"/>
              </a:defRPr>
            </a:pPr>
            <a:r>
              <a:t>No transitive dependency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291840"/>
            <a:ext cx="2926080" cy="5943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000" b="0">
                <a:solidFill>
                  <a:srgbClr val="B0B8DC"/>
                </a:solidFill>
                <a:latin typeface="Aptos"/>
              </a:defRPr>
            </a:pPr>
            <a:r>
              <a:t>Non-key attributes do not depend on another non-key attribute.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26280"/>
            <a:ext cx="10927080" cy="1051560"/>
          </a:xfrm>
          <a:prstGeom prst="roundRect">
            <a:avLst/>
          </a:prstGeom>
          <a:solidFill>
            <a:srgbClr val="141832"/>
          </a:solidFill>
          <a:ln>
            <a:solidFill>
              <a:srgbClr val="FFC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727448"/>
            <a:ext cx="10424160" cy="6400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050" b="0">
                <a:solidFill>
                  <a:srgbClr val="F5F7FF"/>
                </a:solidFill>
                <a:latin typeface="Aptos"/>
              </a:defRPr>
            </a:pPr>
            <a:r>
              <a:t>Example: APPLICATION stores student_id and opportunity_id as foreign keys rather than repeating student or organization details. ORGANIZATION details remain in ORGANIZATION and internship details remain in OPPORTUNITY.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0B8DC"/>
                </a:solidFill>
                <a:latin typeface="Aptos"/>
              </a:defRPr>
            </a:pPr>
            <a:r>
              <a:t>INTERNSHIP APPLICATION &amp; PROGRESS MONITORING SYSTEM   •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4754880" y="2468880"/>
            <a:ext cx="4114800" cy="2560320"/>
          </a:xfrm>
          <a:prstGeom prst="ellipse">
            <a:avLst/>
          </a:prstGeom>
          <a:solidFill>
            <a:srgbClr val="EC5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7D2FF"/>
                </a:solidFill>
                <a:latin typeface="Aptos"/>
              </a:defRPr>
            </a:pPr>
            <a:r>
              <a:t>PROJECT 35 •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 Display"/>
              </a:defRPr>
            </a:pPr>
            <a:r>
              <a:t>Functional Dependencies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0B8DC"/>
                </a:solidFill>
                <a:latin typeface="Aptos"/>
              </a:defRPr>
            </a:pPr>
            <a:r>
              <a:t>Representative dependencies used to reason about keys and normalization.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1828800" cy="384048"/>
          </a:xfrm>
          <a:prstGeom prst="rect">
            <a:avLst/>
          </a:prstGeom>
          <a:solidFill>
            <a:srgbClr val="8458FF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682496"/>
            <a:ext cx="1773936" cy="2926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1">
                <a:solidFill>
                  <a:srgbClr val="F5F7FF"/>
                </a:solidFill>
                <a:latin typeface="Aptos"/>
              </a:defRPr>
            </a:pPr>
            <a:r>
              <a:t>RELATION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645920"/>
            <a:ext cx="9098280" cy="384048"/>
          </a:xfrm>
          <a:prstGeom prst="rect">
            <a:avLst/>
          </a:prstGeom>
          <a:solidFill>
            <a:srgbClr val="8458FF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96312" y="1682496"/>
            <a:ext cx="9043415" cy="2926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1">
                <a:solidFill>
                  <a:srgbClr val="F5F7FF"/>
                </a:solidFill>
                <a:latin typeface="Aptos"/>
              </a:defRPr>
            </a:pPr>
            <a:r>
              <a:t>FUNCTIONAL DEPENDENCY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029968"/>
            <a:ext cx="1828800" cy="409651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2057400"/>
            <a:ext cx="1773936" cy="354787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STUDENT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2029968"/>
            <a:ext cx="9098280" cy="409651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96312" y="2057400"/>
            <a:ext cx="9043415" cy="354787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student_id → name, email, phone, department, year, password_hash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439619"/>
            <a:ext cx="1828800" cy="409651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" y="2467051"/>
            <a:ext cx="1773936" cy="354787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ORGANIZATION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2439619"/>
            <a:ext cx="9098280" cy="409651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96312" y="2467051"/>
            <a:ext cx="9043415" cy="354787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organization_id → name, address, email, phone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849270"/>
            <a:ext cx="1828800" cy="409651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" y="2876702"/>
            <a:ext cx="1773936" cy="354787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OPPORTUNITY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2849270"/>
            <a:ext cx="9098280" cy="409651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96312" y="2876702"/>
            <a:ext cx="9043415" cy="354787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opportunity_id → organization_id, title, description, location, start_date, end_date, available_slots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258921"/>
            <a:ext cx="1828800" cy="409651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" y="3286353"/>
            <a:ext cx="1773936" cy="354787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3258921"/>
            <a:ext cx="9098280" cy="409651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96312" y="3286353"/>
            <a:ext cx="9043415" cy="354787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application_id → student_id, opportunity_id, application_date, 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668572"/>
            <a:ext cx="1828800" cy="409651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" y="3696004"/>
            <a:ext cx="1773936" cy="354787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APPROVAL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68880" y="3668572"/>
            <a:ext cx="9098280" cy="409651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96312" y="3696004"/>
            <a:ext cx="9043415" cy="354787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approval_id → application_id, approval_date, status, remarks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078224"/>
            <a:ext cx="1828800" cy="409651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7512" y="4105656"/>
            <a:ext cx="1773936" cy="354787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ASSIGNMENT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80" y="4078224"/>
            <a:ext cx="9098280" cy="409651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496312" y="4105656"/>
            <a:ext cx="9043415" cy="354787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assignment_id → application_id, mentor_id, supervisor_id, assigned_date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487875"/>
            <a:ext cx="1828800" cy="409651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7512" y="4515307"/>
            <a:ext cx="1773936" cy="354787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WEEKLY_LOG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68880" y="4487875"/>
            <a:ext cx="9098280" cy="409651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496312" y="4515307"/>
            <a:ext cx="9043415" cy="354787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log_id → assignment_id, week_no, log_date, activities, hours, status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897526"/>
            <a:ext cx="1828800" cy="409651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7512" y="4924958"/>
            <a:ext cx="1773936" cy="354787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68880" y="4897526"/>
            <a:ext cx="9098280" cy="409651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496312" y="4924958"/>
            <a:ext cx="9043415" cy="354787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evaluation_id → assignment_id, evaluator_type, score, remarks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5307177"/>
            <a:ext cx="1828800" cy="409651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7512" y="5334609"/>
            <a:ext cx="1773936" cy="354787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CERTIFICATE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68880" y="5307177"/>
            <a:ext cx="9098280" cy="409651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496312" y="5334609"/>
            <a:ext cx="9043415" cy="354787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certificate_id → assignment_id, certificate_no, issue_date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5716828"/>
            <a:ext cx="1828800" cy="409651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67512" y="5744260"/>
            <a:ext cx="1773936" cy="354787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FEEDBACK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0" y="5716828"/>
            <a:ext cx="9098280" cy="409651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496312" y="5744260"/>
            <a:ext cx="9043415" cy="354787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feedback_id → assignment_id, rating, comments, feedback_date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6236208"/>
            <a:ext cx="10698480" cy="2286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50" b="0">
                <a:solidFill>
                  <a:srgbClr val="B0B8DC"/>
                </a:solidFill>
                <a:latin typeface="Aptos"/>
              </a:defRPr>
            </a:pPr>
            <a:r>
              <a:t>Unique constraints also establish alternate keys, e.g. (student_id, opportunity_id) in APPLICATION and application_id in APPROVAL/ASSIGNMENT.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0B8DC"/>
                </a:solidFill>
                <a:latin typeface="Aptos"/>
              </a:defRPr>
            </a:pPr>
            <a:r>
              <a:t>INTERNSHIP APPLICATION &amp; PROGRESS MONITORING SYSTEM   •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94360" y="2286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7D2FF"/>
                </a:solidFill>
                <a:latin typeface="Aptos"/>
              </a:defRPr>
            </a:pPr>
            <a:r>
              <a:t>PROJECT 35 •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 Display"/>
              </a:defRPr>
            </a:pPr>
            <a:r>
              <a:t>DDL, Keys &amp; Integrity Constraints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0B8DC"/>
                </a:solidFill>
                <a:latin typeface="Aptos"/>
              </a:defRPr>
            </a:pPr>
            <a:r>
              <a:t>Constraints are enforced in MySQL rather than relying only on application-side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5212080" cy="1078992"/>
          </a:xfrm>
          <a:prstGeom prst="roundRect">
            <a:avLst/>
          </a:prstGeom>
          <a:solidFill>
            <a:srgbClr val="141832"/>
          </a:solidFill>
          <a:ln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801368"/>
            <a:ext cx="1508760" cy="25603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100" b="1">
                <a:solidFill>
                  <a:srgbClr val="37D2FF"/>
                </a:solidFill>
                <a:latin typeface="Aptos"/>
              </a:defRPr>
            </a:pPr>
            <a:r>
              <a:t>PRIMARY 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801368"/>
            <a:ext cx="3337560" cy="6400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950" b="0">
                <a:solidFill>
                  <a:srgbClr val="B0B8DC"/>
                </a:solidFill>
                <a:latin typeface="Aptos"/>
              </a:defRPr>
            </a:pPr>
            <a:r>
              <a:t>Uniquely identifies each row; AUTO_INCREMENT used for identifiers.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91640"/>
            <a:ext cx="5212080" cy="1078992"/>
          </a:xfrm>
          <a:prstGeom prst="roundRect">
            <a:avLst/>
          </a:prstGeom>
          <a:solidFill>
            <a:srgbClr val="141832"/>
          </a:solidFill>
          <a:ln>
            <a:solidFill>
              <a:srgbClr val="845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801368"/>
            <a:ext cx="1508760" cy="25603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100" b="1">
                <a:solidFill>
                  <a:srgbClr val="8458FF"/>
                </a:solidFill>
                <a:latin typeface="Aptos"/>
              </a:defRPr>
            </a:pPr>
            <a:r>
              <a:t>FOREIGN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801368"/>
            <a:ext cx="3337560" cy="6400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950" b="0">
                <a:solidFill>
                  <a:srgbClr val="B0B8DC"/>
                </a:solidFill>
                <a:latin typeface="Aptos"/>
              </a:defRPr>
            </a:pPr>
            <a:r>
              <a:t>Maintains valid links between students, opportunities, applications and internship records.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08960"/>
            <a:ext cx="5212080" cy="1078992"/>
          </a:xfrm>
          <a:prstGeom prst="roundRect">
            <a:avLst/>
          </a:prstGeom>
          <a:solidFill>
            <a:srgbClr val="141832"/>
          </a:solidFill>
          <a:ln>
            <a:solidFill>
              <a:srgbClr val="EC5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1" y="3218688"/>
            <a:ext cx="1508760" cy="25603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100" b="1">
                <a:solidFill>
                  <a:srgbClr val="EC54AD"/>
                </a:solidFill>
                <a:latin typeface="Aptos"/>
              </a:defRPr>
            </a:pPr>
            <a:r>
              <a:t>UNIQUE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218688"/>
            <a:ext cx="3337560" cy="6400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950" b="0">
                <a:solidFill>
                  <a:srgbClr val="B0B8DC"/>
                </a:solidFill>
                <a:latin typeface="Aptos"/>
              </a:defRPr>
            </a:pPr>
            <a:r>
              <a:t>Prevents duplicate student-opportunity applications and duplicate one-to-one records.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108960"/>
            <a:ext cx="5212080" cy="1078992"/>
          </a:xfrm>
          <a:prstGeom prst="roundRect">
            <a:avLst/>
          </a:prstGeom>
          <a:solidFill>
            <a:srgbClr val="141832"/>
          </a:solidFill>
          <a:ln>
            <a:solidFill>
              <a:srgbClr val="44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8232" y="3218688"/>
            <a:ext cx="1508760" cy="25603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100" b="1">
                <a:solidFill>
                  <a:srgbClr val="44DC97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3218688"/>
            <a:ext cx="3337560" cy="6400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950" b="0">
                <a:solidFill>
                  <a:srgbClr val="B0B8DC"/>
                </a:solidFill>
                <a:latin typeface="Aptos"/>
              </a:defRPr>
            </a:pPr>
            <a:r>
              <a:t>Validates year, dates, slots, application status, scores, hours and ratings.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26280"/>
            <a:ext cx="5212080" cy="1078992"/>
          </a:xfrm>
          <a:prstGeom prst="roundRect">
            <a:avLst/>
          </a:prstGeom>
          <a:solidFill>
            <a:srgbClr val="141832"/>
          </a:solidFill>
          <a:ln>
            <a:solidFill>
              <a:srgbClr val="FFC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1" y="4636008"/>
            <a:ext cx="1508760" cy="25603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100" b="1">
                <a:solidFill>
                  <a:srgbClr val="FFC758"/>
                </a:solidFill>
                <a:latin typeface="Aptos"/>
              </a:defRPr>
            </a:pPr>
            <a:r>
              <a:t>NOT NULL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636008"/>
            <a:ext cx="3337560" cy="6400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950" b="0">
                <a:solidFill>
                  <a:srgbClr val="B0B8DC"/>
                </a:solidFill>
                <a:latin typeface="Aptos"/>
              </a:defRPr>
            </a:pPr>
            <a:r>
              <a:t>Requires essential student, opportunity, application and progress fields.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4526280"/>
            <a:ext cx="5212080" cy="1078992"/>
          </a:xfrm>
          <a:prstGeom prst="roundRect">
            <a:avLst/>
          </a:prstGeom>
          <a:solidFill>
            <a:srgbClr val="141832"/>
          </a:solidFill>
          <a:ln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4636008"/>
            <a:ext cx="1508760" cy="25603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100" b="1">
                <a:solidFill>
                  <a:srgbClr val="37D2FF"/>
                </a:solidFill>
                <a:latin typeface="Aptos"/>
              </a:defRPr>
            </a:pPr>
            <a:r>
              <a:t>DEFAULT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4636008"/>
            <a:ext cx="3337560" cy="6400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950" b="0">
                <a:solidFill>
                  <a:srgbClr val="B0B8DC"/>
                </a:solidFill>
                <a:latin typeface="Aptos"/>
              </a:defRPr>
            </a:pPr>
            <a:r>
              <a:t>Application status defaults to 'Applied'; weekly log status defaults to 'Submitted'.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0B8DC"/>
                </a:solidFill>
                <a:latin typeface="Aptos"/>
              </a:defRPr>
            </a:pPr>
            <a:r>
              <a:t>INTERNSHIP APPLICATION &amp; PROGRESS MONITORING SYSTEM   •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4754880" y="2468880"/>
            <a:ext cx="4114800" cy="2560320"/>
          </a:xfrm>
          <a:prstGeom prst="ellipse">
            <a:avLst/>
          </a:prstGeom>
          <a:solidFill>
            <a:srgbClr val="EC5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7D2FF"/>
                </a:solidFill>
                <a:latin typeface="Aptos"/>
              </a:defRPr>
            </a:pPr>
            <a:r>
              <a:t>PROJECT 35 •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 Display"/>
              </a:defRPr>
            </a:pPr>
            <a:r>
              <a:t>Data Dictionary — Core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0B8DC"/>
                </a:solidFill>
                <a:latin typeface="Aptos"/>
              </a:defRPr>
            </a:pPr>
            <a:r>
              <a:t>Key attributes and their roles in the implemented schema.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1965960" cy="384048"/>
          </a:xfrm>
          <a:prstGeom prst="rect">
            <a:avLst/>
          </a:prstGeom>
          <a:solidFill>
            <a:srgbClr val="8458FF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636776"/>
            <a:ext cx="1911095" cy="2926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1">
                <a:solidFill>
                  <a:srgbClr val="F5F7FF"/>
                </a:solidFill>
                <a:latin typeface="Aptos"/>
              </a:defRPr>
            </a:pPr>
            <a:r>
              <a:t>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1600200"/>
            <a:ext cx="2743200" cy="384048"/>
          </a:xfrm>
          <a:prstGeom prst="rect">
            <a:avLst/>
          </a:prstGeom>
          <a:solidFill>
            <a:srgbClr val="8458FF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87751" y="1636776"/>
            <a:ext cx="2688336" cy="2926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1">
                <a:solidFill>
                  <a:srgbClr val="F5F7FF"/>
                </a:solidFill>
                <a:latin typeface="Aptos"/>
              </a:defRPr>
            </a:pPr>
            <a:r>
              <a:t>KEYS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1600200"/>
            <a:ext cx="6263640" cy="384048"/>
          </a:xfrm>
          <a:prstGeom prst="rect">
            <a:avLst/>
          </a:prstGeom>
          <a:solidFill>
            <a:srgbClr val="8458FF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30952" y="1636776"/>
            <a:ext cx="6208776" cy="2926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1">
                <a:solidFill>
                  <a:srgbClr val="F5F7FF"/>
                </a:solidFill>
                <a:latin typeface="Aptos"/>
              </a:defRPr>
            </a:pPr>
            <a:r>
              <a:t>IMPORTANT ATTRIBUTES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984248"/>
            <a:ext cx="1965960" cy="690372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2011679"/>
            <a:ext cx="1911095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STUDENT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1984248"/>
            <a:ext cx="2743200" cy="690372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87751" y="2011679"/>
            <a:ext cx="2688336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PK student_id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984248"/>
            <a:ext cx="6263640" cy="690372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30952" y="2011679"/>
            <a:ext cx="6208776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name, email, phone, department, year, password_hash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674620"/>
            <a:ext cx="1965960" cy="690372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2702051"/>
            <a:ext cx="1911095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ORGANIZATION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2674620"/>
            <a:ext cx="2743200" cy="690372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87751" y="2702051"/>
            <a:ext cx="2688336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PK organization_id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0" y="2674620"/>
            <a:ext cx="6263640" cy="690372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30952" y="2702051"/>
            <a:ext cx="6208776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name, address, email, phone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364991"/>
            <a:ext cx="1965960" cy="690372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" y="3392423"/>
            <a:ext cx="1911095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OPPORTUNITY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3364991"/>
            <a:ext cx="2743200" cy="690372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587751" y="3392423"/>
            <a:ext cx="2688336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PK opportunity_id; FK organization_id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0" y="3364991"/>
            <a:ext cx="6263640" cy="690372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30952" y="3392423"/>
            <a:ext cx="6208776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title, description, location, start/end dates, available_slots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4055364"/>
            <a:ext cx="1965960" cy="690372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1792" y="4082796"/>
            <a:ext cx="1911095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4055364"/>
            <a:ext cx="2743200" cy="690372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587751" y="4082796"/>
            <a:ext cx="2688336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PK application_id; FK student_id, opportunity_id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3520" y="4055364"/>
            <a:ext cx="6263640" cy="690372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30952" y="4082796"/>
            <a:ext cx="6208776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application_date, status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4745736"/>
            <a:ext cx="1965960" cy="690372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1792" y="4773168"/>
            <a:ext cx="1911095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APPROVAL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0" y="4745736"/>
            <a:ext cx="2743200" cy="690372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587751" y="4773168"/>
            <a:ext cx="2688336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PK approval_id; FK application_id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0" y="4745736"/>
            <a:ext cx="6263640" cy="690372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30952" y="4773168"/>
            <a:ext cx="6208776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approval_date, status, remarks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5436108"/>
            <a:ext cx="1965960" cy="690372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1792" y="5463540"/>
            <a:ext cx="1911095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FACULTY_MENTOR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0" y="5436108"/>
            <a:ext cx="2743200" cy="690372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587751" y="5463540"/>
            <a:ext cx="2688336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PK mentor_id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03520" y="5436108"/>
            <a:ext cx="6263640" cy="690372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330952" y="5463540"/>
            <a:ext cx="6208776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name, email, department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0B8DC"/>
                </a:solidFill>
                <a:latin typeface="Aptos"/>
              </a:defRPr>
            </a:pPr>
            <a:r>
              <a:t>INTERNSHIP APPLICATION &amp; PROGRESS MONITORING SYSTEM   •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4754880" y="2468880"/>
            <a:ext cx="4114800" cy="2560320"/>
          </a:xfrm>
          <a:prstGeom prst="ellipse">
            <a:avLst/>
          </a:prstGeom>
          <a:solidFill>
            <a:srgbClr val="EC5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7D2FF"/>
                </a:solidFill>
                <a:latin typeface="Aptos"/>
              </a:defRPr>
            </a:pPr>
            <a:r>
              <a:t>PROJECT 35 •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 Display"/>
              </a:defRPr>
            </a:pPr>
            <a:r>
              <a:t>Data Dictionary — Internship Tracking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0B8DC"/>
                </a:solidFill>
                <a:latin typeface="Aptos"/>
              </a:defRPr>
            </a:pPr>
            <a:r>
              <a:t>Tables that manage supervision, progress, assessment and completion.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1965960" cy="384048"/>
          </a:xfrm>
          <a:prstGeom prst="rect">
            <a:avLst/>
          </a:prstGeom>
          <a:solidFill>
            <a:srgbClr val="8458FF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636776"/>
            <a:ext cx="1911095" cy="2926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1">
                <a:solidFill>
                  <a:srgbClr val="F5F7FF"/>
                </a:solidFill>
                <a:latin typeface="Aptos"/>
              </a:defRPr>
            </a:pPr>
            <a:r>
              <a:t>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1600200"/>
            <a:ext cx="3246120" cy="384048"/>
          </a:xfrm>
          <a:prstGeom prst="rect">
            <a:avLst/>
          </a:prstGeom>
          <a:solidFill>
            <a:srgbClr val="8458FF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87751" y="1636776"/>
            <a:ext cx="3191256" cy="2926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1">
                <a:solidFill>
                  <a:srgbClr val="F5F7FF"/>
                </a:solidFill>
                <a:latin typeface="Aptos"/>
              </a:defRPr>
            </a:pPr>
            <a:r>
              <a:t>KEYS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1600200"/>
            <a:ext cx="5760720" cy="384048"/>
          </a:xfrm>
          <a:prstGeom prst="rect">
            <a:avLst/>
          </a:prstGeom>
          <a:solidFill>
            <a:srgbClr val="8458FF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33872" y="1636776"/>
            <a:ext cx="5705856" cy="2926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1">
                <a:solidFill>
                  <a:srgbClr val="F5F7FF"/>
                </a:solidFill>
                <a:latin typeface="Aptos"/>
              </a:defRPr>
            </a:pPr>
            <a:r>
              <a:t>IMPORTANT ATTRIBUTES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984248"/>
            <a:ext cx="1965960" cy="690372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2011679"/>
            <a:ext cx="1911095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COMPANY_SUPERVISOR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1984248"/>
            <a:ext cx="3246120" cy="690372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87751" y="2011679"/>
            <a:ext cx="3191256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PK supervisor_id; FK organization_id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06440" y="1984248"/>
            <a:ext cx="5760720" cy="690372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33872" y="2011679"/>
            <a:ext cx="5705856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name, email, phone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674620"/>
            <a:ext cx="1965960" cy="690372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2702051"/>
            <a:ext cx="1911095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ASSIGNMENT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2674620"/>
            <a:ext cx="3246120" cy="690372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87751" y="2702051"/>
            <a:ext cx="3191256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PK assignment_id; FK application_id, mentor_id, supervisor_id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06440" y="2674620"/>
            <a:ext cx="5760720" cy="690372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33872" y="2702051"/>
            <a:ext cx="5705856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assigned_date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364991"/>
            <a:ext cx="1965960" cy="690372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" y="3392423"/>
            <a:ext cx="1911095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WEEKLY_LOG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3364991"/>
            <a:ext cx="3246120" cy="690372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587751" y="3392423"/>
            <a:ext cx="3191256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PK log_id; FK assignment_id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06440" y="3364991"/>
            <a:ext cx="5760720" cy="690372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33872" y="3392423"/>
            <a:ext cx="5705856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week_no, log_date, activities, hours, status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4055364"/>
            <a:ext cx="1965960" cy="690372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1792" y="4082796"/>
            <a:ext cx="1911095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4055364"/>
            <a:ext cx="3246120" cy="690372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587751" y="4082796"/>
            <a:ext cx="3191256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PK evaluation_id; FK assignment_id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06440" y="4055364"/>
            <a:ext cx="5760720" cy="690372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833872" y="4082796"/>
            <a:ext cx="5705856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evaluator_type, score, remarks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4745736"/>
            <a:ext cx="1965960" cy="690372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1792" y="4773168"/>
            <a:ext cx="1911095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CERTIFICATE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0" y="4745736"/>
            <a:ext cx="3246120" cy="690372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587751" y="4773168"/>
            <a:ext cx="3191256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PK certificate_id; FK assignment_id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06440" y="4745736"/>
            <a:ext cx="5760720" cy="690372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833872" y="4773168"/>
            <a:ext cx="5705856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certificate_no, issue_date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5436108"/>
            <a:ext cx="1965960" cy="690372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1792" y="5463540"/>
            <a:ext cx="1911095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FEEDBACK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0" y="5436108"/>
            <a:ext cx="3246120" cy="690372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587751" y="5463540"/>
            <a:ext cx="3191256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PK feedback_id; FK assignment_id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06440" y="5436108"/>
            <a:ext cx="5760720" cy="690372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833872" y="5463540"/>
            <a:ext cx="5705856" cy="63550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69" b="0">
                <a:solidFill>
                  <a:srgbClr val="F5F7FF"/>
                </a:solidFill>
                <a:latin typeface="Aptos"/>
              </a:defRPr>
            </a:pPr>
            <a:r>
              <a:t>rating, comments, feedback_date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0B8DC"/>
                </a:solidFill>
                <a:latin typeface="Aptos"/>
              </a:defRPr>
            </a:pPr>
            <a:r>
              <a:t>INTERNSHIP APPLICATION &amp; PROGRESS MONITORING SYSTEM   •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94360" y="2286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7D2FF"/>
                </a:solidFill>
                <a:latin typeface="Aptos"/>
              </a:defRPr>
            </a:pPr>
            <a:r>
              <a:t>PROJECT 35 •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 Display"/>
              </a:defRPr>
            </a:pPr>
            <a:r>
              <a:t>SQL Queries, Views &amp;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0B8DC"/>
                </a:solidFill>
                <a:latin typeface="Aptos"/>
              </a:defRPr>
            </a:pPr>
            <a:r>
              <a:t>The database supports operational queries and consolidated reporting for the internship lifecycle.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10835640" cy="612648"/>
          </a:xfrm>
          <a:prstGeom prst="roundRect">
            <a:avLst/>
          </a:prstGeom>
          <a:solidFill>
            <a:srgbClr val="141832"/>
          </a:solidFill>
          <a:ln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773936"/>
            <a:ext cx="1463040" cy="25603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000" b="1">
                <a:solidFill>
                  <a:srgbClr val="37D2FF"/>
                </a:solidFill>
                <a:latin typeface="Aptos"/>
              </a:defRPr>
            </a:pPr>
            <a:r>
              <a:t>JOIN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746504"/>
            <a:ext cx="8595360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050" b="0">
                <a:solidFill>
                  <a:srgbClr val="F5F7FF"/>
                </a:solidFill>
                <a:latin typeface="Aptos"/>
              </a:defRPr>
            </a:pPr>
            <a:r>
              <a:t>Student applications with internship title and organization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50592"/>
            <a:ext cx="10835640" cy="612648"/>
          </a:xfrm>
          <a:prstGeom prst="roundRect">
            <a:avLst/>
          </a:prstGeom>
          <a:solidFill>
            <a:srgbClr val="141832"/>
          </a:solidFill>
          <a:ln>
            <a:solidFill>
              <a:srgbClr val="845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578608"/>
            <a:ext cx="1463040" cy="25603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000" b="1">
                <a:solidFill>
                  <a:srgbClr val="8458FF"/>
                </a:solidFill>
                <a:latin typeface="Aptos"/>
              </a:defRPr>
            </a:pPr>
            <a:r>
              <a:t>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551176"/>
            <a:ext cx="8595360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050" b="0">
                <a:solidFill>
                  <a:srgbClr val="F5F7FF"/>
                </a:solidFill>
                <a:latin typeface="Aptos"/>
              </a:defRPr>
            </a:pPr>
            <a:r>
              <a:t>Approved internships / application status / progress 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55264"/>
            <a:ext cx="10835640" cy="612648"/>
          </a:xfrm>
          <a:prstGeom prst="roundRect">
            <a:avLst/>
          </a:prstGeom>
          <a:solidFill>
            <a:srgbClr val="141832"/>
          </a:solidFill>
          <a:ln>
            <a:solidFill>
              <a:srgbClr val="EC5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383280"/>
            <a:ext cx="1463040" cy="25603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000" b="1">
                <a:solidFill>
                  <a:srgbClr val="EC54AD"/>
                </a:solidFill>
                <a:latin typeface="Aptos"/>
              </a:defRPr>
            </a:pPr>
            <a:r>
              <a:t>AGGREGATION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3355848"/>
            <a:ext cx="8595360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050" b="0">
                <a:solidFill>
                  <a:srgbClr val="F5F7FF"/>
                </a:solidFill>
                <a:latin typeface="Aptos"/>
              </a:defRPr>
            </a:pPr>
            <a:r>
              <a:t>Average evaluation score and applications per organization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059936"/>
            <a:ext cx="10835640" cy="612648"/>
          </a:xfrm>
          <a:prstGeom prst="roundRect">
            <a:avLst/>
          </a:prstGeom>
          <a:solidFill>
            <a:srgbClr val="141832"/>
          </a:solidFill>
          <a:ln>
            <a:solidFill>
              <a:srgbClr val="44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187952"/>
            <a:ext cx="1463040" cy="25603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000" b="1">
                <a:solidFill>
                  <a:srgbClr val="44DC97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4160520"/>
            <a:ext cx="8595360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050" b="0">
                <a:solidFill>
                  <a:srgbClr val="F5F7FF"/>
                </a:solidFill>
                <a:latin typeface="Aptos"/>
              </a:defRPr>
            </a:pPr>
            <a:r>
              <a:t>Assignment report combining student, organization, internship, mentor and supervisor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864608"/>
            <a:ext cx="10835640" cy="612648"/>
          </a:xfrm>
          <a:prstGeom prst="roundRect">
            <a:avLst/>
          </a:prstGeom>
          <a:solidFill>
            <a:srgbClr val="141832"/>
          </a:solidFill>
          <a:ln>
            <a:solidFill>
              <a:srgbClr val="FFC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992624"/>
            <a:ext cx="1463040" cy="25603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000" b="1">
                <a:solidFill>
                  <a:srgbClr val="FFC758"/>
                </a:solidFill>
                <a:latin typeface="Aptos"/>
              </a:defRPr>
            </a:pPr>
            <a:r>
              <a:t>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4965192"/>
            <a:ext cx="8595360" cy="34747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050" b="0">
                <a:solidFill>
                  <a:srgbClr val="F5F7FF"/>
                </a:solidFill>
                <a:latin typeface="Aptos"/>
              </a:defRPr>
            </a:pPr>
            <a:r>
              <a:t>internship_assignment_report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669280"/>
            <a:ext cx="10835640" cy="566928"/>
          </a:xfrm>
          <a:prstGeom prst="roundRect">
            <a:avLst/>
          </a:prstGeom>
          <a:solidFill>
            <a:srgbClr val="141832"/>
          </a:solidFill>
          <a:ln>
            <a:solidFill>
              <a:srgbClr val="845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5797296"/>
            <a:ext cx="10469880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750" b="0">
                <a:solidFill>
                  <a:srgbClr val="B0B8DC"/>
                </a:solidFill>
                <a:latin typeface="Aptos"/>
              </a:defRPr>
            </a:pPr>
            <a:r>
              <a:t>SELECT s.name, op.title, org.name FROM application ap JOIN student s ON ap.student_id=s.student_id JOIN opportunity op ON ap.opportunity_id=op.opportunity_id JOIN organization org ON op.organization_id=org.organization_id;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0B8DC"/>
                </a:solidFill>
                <a:latin typeface="Aptos"/>
              </a:defRPr>
            </a:pPr>
            <a:r>
              <a:t>INTERNSHIP APPLICATION &amp; PROGRESS MONITORING SYSTEM   •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4754880" y="2468880"/>
            <a:ext cx="4114800" cy="2560320"/>
          </a:xfrm>
          <a:prstGeom prst="ellipse">
            <a:avLst/>
          </a:prstGeom>
          <a:solidFill>
            <a:srgbClr val="EC5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7D2FF"/>
                </a:solidFill>
                <a:latin typeface="Aptos"/>
              </a:defRPr>
            </a:pPr>
            <a:r>
              <a:t>PROJECT 35 •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 Display"/>
              </a:defRPr>
            </a:pPr>
            <a:r>
              <a:t>Working Prototype — Internship 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0B8DC"/>
                </a:solidFill>
                <a:latin typeface="Aptos"/>
              </a:defRPr>
            </a:pPr>
            <a:r>
              <a:t>Actual project UI connected to the MySQL data. Search/filter behavior is visible in the running prototype.</a:t>
            </a:r>
          </a:p>
        </p:txBody>
      </p:sp>
      <p:pic>
        <p:nvPicPr>
          <p:cNvPr id="8" name="Picture 7" descr="Screenshot 2026-09-20 1219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00200"/>
            <a:ext cx="10972800" cy="4800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6355080"/>
            <a:ext cx="10515600" cy="1828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800" b="0">
                <a:solidFill>
                  <a:srgbClr val="B0B8DC"/>
                </a:solidFill>
                <a:latin typeface="Aptos"/>
              </a:defRPr>
            </a:pPr>
            <a:r>
              <a:t>Prototype screen: internship listings with organization, slots, location, dates and application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0B8DC"/>
                </a:solidFill>
                <a:latin typeface="Aptos"/>
              </a:defRPr>
            </a:pPr>
            <a:r>
              <a:t>INTERNSHIP APPLICATION &amp; PROGRESS MONITORING SYSTEM   •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4754880" y="2468880"/>
            <a:ext cx="4114800" cy="2560320"/>
          </a:xfrm>
          <a:prstGeom prst="ellipse">
            <a:avLst/>
          </a:prstGeom>
          <a:solidFill>
            <a:srgbClr val="EC5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7D2FF"/>
                </a:solidFill>
                <a:latin typeface="Aptos"/>
              </a:defRPr>
            </a:pPr>
            <a:r>
              <a:t>PROJECT 35 •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 Display"/>
              </a:defRPr>
            </a:pPr>
            <a:r>
              <a:t>Working Prototype — Authentication &amp; Student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0B8DC"/>
                </a:solidFill>
                <a:latin typeface="Aptos"/>
              </a:defRPr>
            </a:pPr>
            <a:r>
              <a:t>Registration, secure password hashing, login sessions and student-specific navigation are integrated.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45920"/>
            <a:ext cx="3611880" cy="4343400"/>
          </a:xfrm>
          <a:prstGeom prst="roundRect">
            <a:avLst/>
          </a:prstGeom>
          <a:solidFill>
            <a:srgbClr val="141832"/>
          </a:solidFill>
          <a:ln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creenshot 2026-09-20 1219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719072"/>
            <a:ext cx="3465576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5687568"/>
            <a:ext cx="3429000" cy="1828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ctr">
              <a:defRPr sz="850" b="1">
                <a:solidFill>
                  <a:srgbClr val="F5F7FF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45920"/>
            <a:ext cx="3611880" cy="4343400"/>
          </a:xfrm>
          <a:prstGeom prst="roundRect">
            <a:avLst/>
          </a:prstGeom>
          <a:solidFill>
            <a:srgbClr val="141832"/>
          </a:solidFill>
          <a:ln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creenshot 2026-09-20 1219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719072"/>
            <a:ext cx="3465576" cy="3931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89120" y="5687568"/>
            <a:ext cx="3429000" cy="1828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ctr">
              <a:defRPr sz="850" b="1">
                <a:solidFill>
                  <a:srgbClr val="F5F7FF"/>
                </a:solidFill>
                <a:latin typeface="Aptos"/>
              </a:defRPr>
            </a:pPr>
            <a:r>
              <a:t>Registration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645920"/>
            <a:ext cx="3611880" cy="4343400"/>
          </a:xfrm>
          <a:prstGeom prst="roundRect">
            <a:avLst/>
          </a:prstGeom>
          <a:solidFill>
            <a:srgbClr val="141832"/>
          </a:solidFill>
          <a:ln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creenshot 2026-09-20 1219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1719072"/>
            <a:ext cx="3465576" cy="3931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92440" y="5687568"/>
            <a:ext cx="3429000" cy="1828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ctr">
              <a:defRPr sz="850" b="1">
                <a:solidFill>
                  <a:srgbClr val="F5F7FF"/>
                </a:solidFill>
                <a:latin typeface="Aptos"/>
              </a:defRPr>
            </a:pPr>
            <a:r>
              <a:t>Logged-in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0B8DC"/>
                </a:solidFill>
                <a:latin typeface="Aptos"/>
              </a:defRPr>
            </a:pPr>
            <a:r>
              <a:t>INTERNSHIP APPLICATION &amp; PROGRESS MONITORING SYSTEM   •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4754880" y="2468880"/>
            <a:ext cx="4114800" cy="2560320"/>
          </a:xfrm>
          <a:prstGeom prst="ellipse">
            <a:avLst/>
          </a:prstGeom>
          <a:solidFill>
            <a:srgbClr val="EC5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7D2FF"/>
                </a:solidFill>
                <a:latin typeface="Aptos"/>
              </a:defRPr>
            </a:pPr>
            <a:r>
              <a:t>PROJECT 35 •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 Display"/>
              </a:defRPr>
            </a:pPr>
            <a:r>
              <a:t>Working Prototype — Logged-in Internship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0B8DC"/>
                </a:solidFill>
                <a:latin typeface="Aptos"/>
              </a:defRPr>
            </a:pPr>
            <a:r>
              <a:t>The student workflow continues from discovery to applications and progress/results.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45920"/>
            <a:ext cx="5440680" cy="4343400"/>
          </a:xfrm>
          <a:prstGeom prst="roundRect">
            <a:avLst/>
          </a:prstGeom>
          <a:solidFill>
            <a:srgbClr val="141832"/>
          </a:solidFill>
          <a:ln>
            <a:solidFill>
              <a:srgbClr val="EC5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creenshot 2026-09-20 12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719072"/>
            <a:ext cx="5294376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5687568"/>
            <a:ext cx="5257800" cy="1828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ctr">
              <a:defRPr sz="850" b="1">
                <a:solidFill>
                  <a:srgbClr val="F5F7FF"/>
                </a:solidFill>
                <a:latin typeface="Aptos"/>
              </a:defRPr>
            </a:pPr>
            <a:r>
              <a:t>Internship search / filtering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45920"/>
            <a:ext cx="5440680" cy="4343400"/>
          </a:xfrm>
          <a:prstGeom prst="roundRect">
            <a:avLst/>
          </a:prstGeom>
          <a:solidFill>
            <a:srgbClr val="141832"/>
          </a:solidFill>
          <a:ln>
            <a:solidFill>
              <a:srgbClr val="EC5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creenshot 2026-09-20 1219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719072"/>
            <a:ext cx="5294376" cy="3931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63640" y="5687568"/>
            <a:ext cx="5257800" cy="1828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ctr">
              <a:defRPr sz="850" b="1">
                <a:solidFill>
                  <a:srgbClr val="F5F7FF"/>
                </a:solidFill>
                <a:latin typeface="Aptos"/>
              </a:defRPr>
            </a:pPr>
            <a:r>
              <a:t>Internship catalogue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172200"/>
            <a:ext cx="10607040" cy="2286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900" b="0">
                <a:solidFill>
                  <a:srgbClr val="B0B8DC"/>
                </a:solidFill>
                <a:latin typeface="Aptos"/>
              </a:defRPr>
            </a:pPr>
            <a:r>
              <a:t>Implemented routes include dashboard, opportunities, applications, progress, results and admin reporting.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0B8DC"/>
                </a:solidFill>
                <a:latin typeface="Aptos"/>
              </a:defRPr>
            </a:pPr>
            <a:r>
              <a:t>INTERNSHIP APPLICATION &amp; PROGRESS MONITORING SYSTEM   •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94360" y="2286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7D2FF"/>
                </a:solidFill>
                <a:latin typeface="Aptos"/>
              </a:defRPr>
            </a:pPr>
            <a:r>
              <a:t>PROJECT 35 •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 Display"/>
              </a:defRPr>
            </a:pPr>
            <a:r>
              <a:t>Review 2 Outcome &amp; Next 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0B8DC"/>
                </a:solidFill>
                <a:latin typeface="Aptos"/>
              </a:defRPr>
            </a:pPr>
            <a:r>
              <a:t>The database is implemented and connected to a working web prototype.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F5F7FF"/>
                </a:solidFill>
                <a:latin typeface="Aptos"/>
              </a:defRPr>
            </a:pPr>
            <a:r>
              <a:t>• 12-table MySQL relational schema implemented</a:t>
            </a:r>
          </a:p>
          <a:p>
            <a:pPr>
              <a:spcAft>
                <a:spcPts val="500"/>
              </a:spcAft>
              <a:defRPr sz="1150">
                <a:solidFill>
                  <a:srgbClr val="F5F7FF"/>
                </a:solidFill>
                <a:latin typeface="Aptos"/>
              </a:defRPr>
            </a:pPr>
            <a:r>
              <a:t>• Primary/foreign keys, UNIQUE, CHECK, NOT NULL and DEFAULT constraints</a:t>
            </a:r>
          </a:p>
          <a:p>
            <a:pPr>
              <a:spcAft>
                <a:spcPts val="500"/>
              </a:spcAft>
              <a:defRPr sz="1150">
                <a:solidFill>
                  <a:srgbClr val="F5F7FF"/>
                </a:solidFill>
                <a:latin typeface="Aptos"/>
              </a:defRPr>
            </a:pPr>
            <a:r>
              <a:t>• Normalization and functional dependencies documented through 3NF</a:t>
            </a:r>
          </a:p>
          <a:p>
            <a:pPr>
              <a:spcAft>
                <a:spcPts val="500"/>
              </a:spcAft>
              <a:defRPr sz="1150">
                <a:solidFill>
                  <a:srgbClr val="F5F7FF"/>
                </a:solidFill>
                <a:latin typeface="Aptos"/>
              </a:defRPr>
            </a:pPr>
            <a:r>
              <a:t>• Sample records, SQL queries and reporting view implemented</a:t>
            </a:r>
          </a:p>
          <a:p>
            <a:pPr>
              <a:spcAft>
                <a:spcPts val="500"/>
              </a:spcAft>
              <a:defRPr sz="1150">
                <a:solidFill>
                  <a:srgbClr val="F5F7FF"/>
                </a:solidFill>
                <a:latin typeface="Aptos"/>
              </a:defRPr>
            </a:pPr>
            <a:r>
              <a:t>• Flask application integrated with MySQL</a:t>
            </a:r>
          </a:p>
          <a:p>
            <a:pPr>
              <a:spcAft>
                <a:spcPts val="500"/>
              </a:spcAft>
              <a:defRPr sz="1150">
                <a:solidFill>
                  <a:srgbClr val="F5F7FF"/>
                </a:solidFill>
                <a:latin typeface="Aptos"/>
              </a:defRPr>
            </a:pPr>
            <a:r>
              <a:t>• Student registration, authentication and internship workflow demonstrated</a:t>
            </a:r>
          </a:p>
          <a:p>
            <a:pPr>
              <a:spcAft>
                <a:spcPts val="500"/>
              </a:spcAft>
              <a:defRPr sz="1150">
                <a:solidFill>
                  <a:srgbClr val="F5F7FF"/>
                </a:solidFill>
                <a:latin typeface="Aptos"/>
              </a:defRPr>
            </a:pPr>
            <a:r>
              <a:t>• Database exported as internship_management.sql for reproducibility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645920"/>
            <a:ext cx="3657600" cy="3520440"/>
          </a:xfrm>
          <a:prstGeom prst="roundRect">
            <a:avLst/>
          </a:prstGeom>
          <a:solidFill>
            <a:srgbClr val="141832"/>
          </a:solidFill>
          <a:ln>
            <a:solidFill>
              <a:srgbClr val="44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1965960"/>
            <a:ext cx="3108960" cy="3200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100" b="1">
                <a:solidFill>
                  <a:srgbClr val="44DC97"/>
                </a:solidFill>
                <a:latin typeface="Aptos"/>
              </a:defRPr>
            </a:pPr>
            <a:r>
              <a:t>NEXT 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514600"/>
            <a:ext cx="3017520" cy="1417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500" b="1">
                <a:solidFill>
                  <a:srgbClr val="F5F7FF"/>
                </a:solidFill>
                <a:latin typeface="Aptos"/>
              </a:defRPr>
            </a:pPr>
            <a:r>
              <a:t>Review 3</a:t>
            </a:r>
            <a:br/>
            <a:r>
              <a:t>• Final application polish</a:t>
            </a:r>
            <a:br/>
            <a:r>
              <a:t>• Testing &amp; validation</a:t>
            </a:r>
            <a:br/>
            <a:r>
              <a:t>• Documentation</a:t>
            </a:r>
            <a:br/>
            <a:r>
              <a:t>• Final demo / viva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434840"/>
            <a:ext cx="2971800" cy="4114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1000" b="1">
                <a:solidFill>
                  <a:srgbClr val="B0B8DC"/>
                </a:solidFill>
                <a:latin typeface="Aptos"/>
              </a:defRPr>
            </a:pPr>
            <a:r>
              <a:t>Deliverables prepared: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846320"/>
            <a:ext cx="2971800" cy="5486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l">
              <a:defRPr sz="900" b="0">
                <a:solidFill>
                  <a:srgbClr val="B0B8DC"/>
                </a:solidFill>
                <a:latin typeface="Aptos"/>
              </a:defRPr>
            </a:pPr>
            <a:r>
              <a:t>Source code • SQL dump • requirements.txt • prototype screens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89320"/>
            <a:ext cx="10241280" cy="4114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algn="ctr">
              <a:defRPr sz="1800" b="1">
                <a:solidFill>
                  <a:srgbClr val="F5F7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0B8DC"/>
                </a:solidFill>
                <a:latin typeface="Aptos"/>
              </a:defRPr>
            </a:pPr>
            <a:r>
              <a:t>INTERNSHIP APPLICATION &amp; PROGRESS MONITORING SYSTEM   • 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1546</Words>
  <Application>Microsoft Office PowerPoint</Application>
  <PresentationFormat>Widescreen</PresentationFormat>
  <Paragraphs>225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Dattu Suragana</cp:lastModifiedBy>
  <cp:revision>5</cp:revision>
  <dcterms:created xsi:type="dcterms:W3CDTF">2013-01-27T09:14:16Z</dcterms:created>
  <dcterms:modified xsi:type="dcterms:W3CDTF">2026-10-02T19:47:47Z</dcterms:modified>
  <cp:category/>
</cp:coreProperties>
</file>