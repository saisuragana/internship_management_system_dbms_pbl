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341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B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85800" y="91440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37D2FF"/>
                </a:solidFill>
                <a:latin typeface="Aptos"/>
              </a:defRPr>
            </a:pPr>
            <a:r>
              <a:t>PROJECT 35 • DATABASE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2406" y="1344168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500" b="1">
                <a:solidFill>
                  <a:srgbClr val="F5F7FF"/>
                </a:solidFill>
                <a:latin typeface="Aptos"/>
              </a:defRPr>
            </a:pPr>
            <a:r>
              <a:t>Internship Application &amp;</a:t>
            </a:r>
            <a:br/>
            <a:r>
              <a:t>Progress Monitoring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74320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B0B8DC"/>
                </a:solidFill>
                <a:latin typeface="Aptos"/>
              </a:defRPr>
            </a:pPr>
            <a:r>
              <a:t>REVIEW 3  |  Final Application • Testing • CRUD • Reporting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7150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B0B8DC"/>
                </a:solidFill>
                <a:latin typeface="Aptos"/>
              </a:defRPr>
            </a:pPr>
            <a:r>
              <a:t>Final implementation and demonstration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37960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 b="0">
                <a:solidFill>
                  <a:srgbClr val="B0B8DC"/>
                </a:solidFill>
                <a:latin typeface="Aptos"/>
              </a:defRPr>
            </a:pPr>
            <a:r>
              <a:t>INTERNSHIP APPLICATION &amp; PROGRESS MONITORING SYSTEM •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B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94360" y="22860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37D2FF"/>
                </a:solidFill>
                <a:latin typeface="Aptos"/>
              </a:defRPr>
            </a:pPr>
            <a:r>
              <a:t>PROJECT 35 • REVIEW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5F7FF"/>
                </a:solidFill>
                <a:latin typeface="Aptos"/>
              </a:defRPr>
            </a:pPr>
            <a:r>
              <a:t>Review 3 Requirements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0700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B0B8DC"/>
                </a:solidFill>
                <a:latin typeface="Aptos"/>
              </a:defRPr>
            </a:pPr>
            <a:r>
              <a:t>Final deliverables mapped directly to the project brief.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83080"/>
            <a:ext cx="5166360" cy="1508760"/>
          </a:xfrm>
          <a:prstGeom prst="roundRect">
            <a:avLst/>
          </a:prstGeom>
          <a:solidFill>
            <a:srgbClr val="141832"/>
          </a:solidFill>
          <a:ln>
            <a:solidFill>
              <a:srgbClr val="37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9659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37D2FF"/>
                </a:solidFill>
                <a:latin typeface="Aptos"/>
              </a:defRPr>
            </a:pPr>
            <a:r>
              <a:t>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77440"/>
            <a:ext cx="4663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F5F7FF"/>
                </a:solidFill>
                <a:latin typeface="Aptos"/>
              </a:defRPr>
            </a:pPr>
            <a:r>
              <a:t>Python application connected to the designed MySQL database.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83080"/>
            <a:ext cx="5166360" cy="1508760"/>
          </a:xfrm>
          <a:prstGeom prst="roundRect">
            <a:avLst/>
          </a:prstGeom>
          <a:solidFill>
            <a:srgbClr val="141832"/>
          </a:solidFill>
          <a:ln>
            <a:solidFill>
              <a:srgbClr val="EC5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9659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EC54AD"/>
                </a:solidFill>
                <a:latin typeface="Aptos"/>
              </a:defRPr>
            </a:pPr>
            <a:r>
              <a:t>FINAL DEMO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377440"/>
            <a:ext cx="4663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F5F7FF"/>
                </a:solidFill>
                <a:latin typeface="Aptos"/>
              </a:defRPr>
            </a:pPr>
            <a:r>
              <a:t>CRUD operations, search, validation, reports and error handling.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703320"/>
            <a:ext cx="5166360" cy="1508760"/>
          </a:xfrm>
          <a:prstGeom prst="roundRect">
            <a:avLst/>
          </a:prstGeom>
          <a:solidFill>
            <a:srgbClr val="141832"/>
          </a:solidFill>
          <a:ln>
            <a:solidFill>
              <a:srgbClr val="44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388620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44DC97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297680"/>
            <a:ext cx="4663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F5F7FF"/>
                </a:solidFill>
                <a:latin typeface="Aptos"/>
              </a:defRPr>
            </a:pPr>
            <a:r>
              <a:t>Source code, database script and test data.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703320"/>
            <a:ext cx="5166360" cy="1508760"/>
          </a:xfrm>
          <a:prstGeom prst="roundRect">
            <a:avLst/>
          </a:prstGeom>
          <a:solidFill>
            <a:srgbClr val="141832"/>
          </a:solidFill>
          <a:ln>
            <a:solidFill>
              <a:srgbClr val="FFC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388620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C758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297680"/>
            <a:ext cx="4663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F5F7FF"/>
                </a:solidFill>
                <a:latin typeface="Aptos"/>
              </a:defRPr>
            </a:pPr>
            <a:r>
              <a:t>Output screens, project report and viva-voce preparation.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37960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 b="0">
                <a:solidFill>
                  <a:srgbClr val="B0B8DC"/>
                </a:solidFill>
                <a:latin typeface="Aptos"/>
              </a:defRPr>
            </a:pPr>
            <a:r>
              <a:t>INTERNSHIP APPLICATION &amp; PROGRESS MONITORING SYSTEM •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B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94360" y="22860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37D2FF"/>
                </a:solidFill>
                <a:latin typeface="Aptos"/>
              </a:defRPr>
            </a:pPr>
            <a:r>
              <a:t>PROJECT 35 • REVIEW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5F7FF"/>
                </a:solidFill>
                <a:latin typeface="Aptos"/>
              </a:defRPr>
            </a:pPr>
            <a:r>
              <a:t>Final 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0700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B0B8DC"/>
                </a:solidFill>
                <a:latin typeface="Aptos"/>
              </a:defRPr>
            </a:pPr>
            <a:r>
              <a:t>Working application connected to the implemented relational database.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37360"/>
            <a:ext cx="10561320" cy="1005840"/>
          </a:xfrm>
          <a:prstGeom prst="roundRect">
            <a:avLst/>
          </a:prstGeom>
          <a:solidFill>
            <a:srgbClr val="141832"/>
          </a:solidFill>
          <a:ln>
            <a:solidFill>
              <a:srgbClr val="37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1874519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37D2FF"/>
                </a:solidFill>
                <a:latin typeface="Aptos"/>
              </a:defRPr>
            </a:pPr>
            <a:r>
              <a:t>USER INTERFACE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1874519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5F7FF"/>
                </a:solidFill>
                <a:latin typeface="Aptos"/>
              </a:defRPr>
            </a:pPr>
            <a:r>
              <a:t>HTML / CSS / JavaScript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2120" y="1856231"/>
            <a:ext cx="5394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0B8DC"/>
                </a:solidFill>
                <a:latin typeface="Aptos"/>
              </a:defRPr>
            </a:pPr>
            <a:r>
              <a:t>Home • Login • Register • Dashboard • Internships • Applications • Progress • Results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108960"/>
            <a:ext cx="10561320" cy="1005840"/>
          </a:xfrm>
          <a:prstGeom prst="roundRect">
            <a:avLst/>
          </a:prstGeom>
          <a:solidFill>
            <a:srgbClr val="141832"/>
          </a:solidFill>
          <a:ln>
            <a:solidFill>
              <a:srgbClr val="845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324612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8458FF"/>
                </a:solidFill>
                <a:latin typeface="Aptos"/>
              </a:defRPr>
            </a:pPr>
            <a:r>
              <a:t>APPLICATION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32461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5F7FF"/>
                </a:solidFill>
                <a:latin typeface="Aptos"/>
              </a:defRPr>
            </a:pPr>
            <a:r>
              <a:t>Python + Flask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3227832"/>
            <a:ext cx="5394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0B8DC"/>
                </a:solidFill>
                <a:latin typeface="Aptos"/>
              </a:defRPr>
            </a:pPr>
            <a:r>
              <a:t>Routing • sessions • password hashing • validation • CRUD workflow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480560"/>
            <a:ext cx="10561320" cy="1005840"/>
          </a:xfrm>
          <a:prstGeom prst="roundRect">
            <a:avLst/>
          </a:prstGeom>
          <a:solidFill>
            <a:srgbClr val="141832"/>
          </a:solidFill>
          <a:ln>
            <a:solidFill>
              <a:srgbClr val="44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51560" y="461772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44DC97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46177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5F7FF"/>
                </a:solidFill>
                <a:latin typeface="Aptos"/>
              </a:defRPr>
            </a:pPr>
            <a:r>
              <a:t>MySQL 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32120" y="4599432"/>
            <a:ext cx="5394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0B8DC"/>
                </a:solidFill>
                <a:latin typeface="Aptos"/>
              </a:defRPr>
            </a:pPr>
            <a:r>
              <a:t>12 tables • PK/FK • UNIQUE • CHECK • NOT NULL • DEFAULT • SQL 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37960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 b="0">
                <a:solidFill>
                  <a:srgbClr val="B0B8DC"/>
                </a:solidFill>
                <a:latin typeface="Aptos"/>
              </a:defRPr>
            </a:pPr>
            <a:r>
              <a:t>INTERNSHIP APPLICATION &amp; PROGRESS MONITORING SYSTEM •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B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94360" y="22860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37D2FF"/>
                </a:solidFill>
                <a:latin typeface="Aptos"/>
              </a:defRPr>
            </a:pPr>
            <a:r>
              <a:t>PROJECT 35 • REVIEW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5F7FF"/>
                </a:solidFill>
                <a:latin typeface="Aptos"/>
              </a:defRPr>
            </a:pPr>
            <a:r>
              <a:t>Implemented Application Modules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0700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B0B8DC"/>
                </a:solidFill>
                <a:latin typeface="Aptos"/>
              </a:defRPr>
            </a:pPr>
            <a:r>
              <a:t>Final prototype covers the student workflow plus administration.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5212080" cy="1051560"/>
          </a:xfrm>
          <a:prstGeom prst="roundRect">
            <a:avLst/>
          </a:prstGeom>
          <a:solidFill>
            <a:srgbClr val="141832"/>
          </a:solidFill>
          <a:ln>
            <a:solidFill>
              <a:srgbClr val="37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178308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37D2FF"/>
                </a:solidFill>
                <a:latin typeface="Aptos"/>
              </a:defRPr>
            </a:pPr>
            <a:r>
              <a:t>Authentication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1755648"/>
            <a:ext cx="3063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B0B8DC"/>
                </a:solidFill>
                <a:latin typeface="Aptos"/>
              </a:defRPr>
            </a:pPr>
            <a:r>
              <a:t>Registration, password hashing, login, session and logout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645920"/>
            <a:ext cx="5212080" cy="1051560"/>
          </a:xfrm>
          <a:prstGeom prst="roundRect">
            <a:avLst/>
          </a:prstGeom>
          <a:solidFill>
            <a:srgbClr val="141832"/>
          </a:solidFill>
          <a:ln>
            <a:solidFill>
              <a:srgbClr val="845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28232" y="178308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8458FF"/>
                </a:solidFill>
                <a:latin typeface="Aptos"/>
              </a:defRPr>
            </a:pPr>
            <a:r>
              <a:t>Internships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1755648"/>
            <a:ext cx="3063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B0B8DC"/>
                </a:solidFill>
                <a:latin typeface="Aptos"/>
              </a:defRPr>
            </a:pPr>
            <a:r>
              <a:t>Browse, search/filter, organization, location, dates and slots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017520"/>
            <a:ext cx="5212080" cy="1051560"/>
          </a:xfrm>
          <a:prstGeom prst="roundRect">
            <a:avLst/>
          </a:prstGeom>
          <a:solidFill>
            <a:srgbClr val="141832"/>
          </a:solidFill>
          <a:ln>
            <a:solidFill>
              <a:srgbClr val="EC5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1" y="3154679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EC54AD"/>
                </a:solidFill>
                <a:latin typeface="Aptos"/>
              </a:defRPr>
            </a:pPr>
            <a:r>
              <a:t>Applications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127248"/>
            <a:ext cx="3063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B0B8DC"/>
                </a:solidFill>
                <a:latin typeface="Aptos"/>
              </a:defRPr>
            </a:pPr>
            <a:r>
              <a:t>Apply, prevent duplicate application, view application status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017520"/>
            <a:ext cx="5212080" cy="1051560"/>
          </a:xfrm>
          <a:prstGeom prst="roundRect">
            <a:avLst/>
          </a:prstGeom>
          <a:solidFill>
            <a:srgbClr val="141832"/>
          </a:solidFill>
          <a:ln>
            <a:solidFill>
              <a:srgbClr val="44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28232" y="3154679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44DC97"/>
                </a:solidFill>
                <a:latin typeface="Aptos"/>
              </a:defRPr>
            </a:pPr>
            <a:r>
              <a:t>Progress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3127248"/>
            <a:ext cx="3063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B0B8DC"/>
                </a:solidFill>
                <a:latin typeface="Aptos"/>
              </a:defRPr>
            </a:pPr>
            <a:r>
              <a:t>Display weekly internship logs and activity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389120"/>
            <a:ext cx="5212080" cy="1051560"/>
          </a:xfrm>
          <a:prstGeom prst="roundRect">
            <a:avLst/>
          </a:prstGeom>
          <a:solidFill>
            <a:srgbClr val="141832"/>
          </a:solidFill>
          <a:ln>
            <a:solidFill>
              <a:srgbClr val="FFC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4671" y="452628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C758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4498848"/>
            <a:ext cx="3063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B0B8DC"/>
                </a:solidFill>
                <a:latin typeface="Aptos"/>
              </a:defRPr>
            </a:pPr>
            <a:r>
              <a:t>Display evaluations and certificate information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4389120"/>
            <a:ext cx="5212080" cy="1051560"/>
          </a:xfrm>
          <a:prstGeom prst="roundRect">
            <a:avLst/>
          </a:prstGeom>
          <a:solidFill>
            <a:srgbClr val="141832"/>
          </a:solidFill>
          <a:ln>
            <a:solidFill>
              <a:srgbClr val="37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28232" y="452628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37D2FF"/>
                </a:solidFill>
                <a:latin typeface="Aptos"/>
              </a:defRPr>
            </a:pPr>
            <a:r>
              <a:t>Administration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4498848"/>
            <a:ext cx="3063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B0B8DC"/>
                </a:solidFill>
                <a:latin typeface="Aptos"/>
              </a:defRPr>
            </a:pPr>
            <a:r>
              <a:t>System statistics + internship opportunity CRUD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37960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 b="0">
                <a:solidFill>
                  <a:srgbClr val="B0B8DC"/>
                </a:solidFill>
                <a:latin typeface="Aptos"/>
              </a:defRPr>
            </a:pPr>
            <a:r>
              <a:t>INTERNSHIP APPLICATION &amp; PROGRESS MONITORING SYSTEM •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B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94360" y="22860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37D2FF"/>
                </a:solidFill>
                <a:latin typeface="Aptos"/>
              </a:defRPr>
            </a:pPr>
            <a:r>
              <a:t>PROJECT 35 • REVIEW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5F7FF"/>
                </a:solidFill>
                <a:latin typeface="Aptos"/>
              </a:defRPr>
            </a:pPr>
            <a:r>
              <a:t>CRUD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0700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B0B8DC"/>
                </a:solidFill>
                <a:latin typeface="Aptos"/>
              </a:defRPr>
            </a:pPr>
            <a:r>
              <a:t>Final administration module demonstrates Create, Read, Update and Delete against the MySQL database.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744200" cy="777240"/>
          </a:xfrm>
          <a:prstGeom prst="roundRect">
            <a:avLst/>
          </a:prstGeom>
          <a:solidFill>
            <a:srgbClr val="141832"/>
          </a:solidFill>
          <a:ln>
            <a:solidFill>
              <a:srgbClr val="44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44DC97"/>
                </a:solidFill>
                <a:latin typeface="Aptos"/>
              </a:defRPr>
            </a:pPr>
            <a:r>
              <a:t>CREATE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1801368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F5F7FF"/>
                </a:solidFill>
                <a:latin typeface="Aptos"/>
              </a:defRPr>
            </a:pPr>
            <a:r>
              <a:t>Add a new internship opportunity using an HTML form → INSERT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51760"/>
            <a:ext cx="10744200" cy="777240"/>
          </a:xfrm>
          <a:prstGeom prst="roundRect">
            <a:avLst/>
          </a:prstGeom>
          <a:solidFill>
            <a:srgbClr val="141832"/>
          </a:solidFill>
          <a:ln>
            <a:solidFill>
              <a:srgbClr val="37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28346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37D2FF"/>
                </a:solidFill>
                <a:latin typeface="Aptos"/>
              </a:defRPr>
            </a:pPr>
            <a:r>
              <a:t>READ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2807208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F5F7FF"/>
                </a:solidFill>
                <a:latin typeface="Aptos"/>
              </a:defRPr>
            </a:pPr>
            <a:r>
              <a:t>Display opportunities and system counts → SELECT / JOIN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57600"/>
            <a:ext cx="10744200" cy="777240"/>
          </a:xfrm>
          <a:prstGeom prst="roundRect">
            <a:avLst/>
          </a:prstGeom>
          <a:solidFill>
            <a:srgbClr val="141832"/>
          </a:solidFill>
          <a:ln>
            <a:solidFill>
              <a:srgbClr val="845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38404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8458FF"/>
                </a:solidFill>
                <a:latin typeface="Aptos"/>
              </a:defRPr>
            </a:pPr>
            <a:r>
              <a:t>UPDATE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3813048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F5F7FF"/>
                </a:solidFill>
                <a:latin typeface="Aptos"/>
              </a:defRPr>
            </a:pPr>
            <a:r>
              <a:t>Edit internship title, description, location and slots → UPDATE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663440"/>
            <a:ext cx="10744200" cy="777240"/>
          </a:xfrm>
          <a:prstGeom prst="roundRect">
            <a:avLst/>
          </a:prstGeom>
          <a:solidFill>
            <a:srgbClr val="141832"/>
          </a:solidFill>
          <a:ln>
            <a:solidFill>
              <a:srgbClr val="EC5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48463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EC54AD"/>
                </a:solidFill>
                <a:latin typeface="Aptos"/>
              </a:defRPr>
            </a:pPr>
            <a:r>
              <a:t>DELETE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4818888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F5F7FF"/>
                </a:solidFill>
                <a:latin typeface="Aptos"/>
              </a:defRPr>
            </a:pPr>
            <a:r>
              <a:t>Remove an internship opportunity → DELETE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89788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B0B8DC"/>
                </a:solidFill>
                <a:latin typeface="Aptos"/>
              </a:defRPr>
            </a:pPr>
            <a:r>
              <a:t>CRUD scope: internship opportunity administration. Student application workflow remains database-backed.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37960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 b="0">
                <a:solidFill>
                  <a:srgbClr val="B0B8DC"/>
                </a:solidFill>
                <a:latin typeface="Aptos"/>
              </a:defRPr>
            </a:pPr>
            <a:r>
              <a:t>INTERNSHIP APPLICATION &amp; PROGRESS MONITORING SYSTEM •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B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4572000" y="2560320"/>
            <a:ext cx="4114800" cy="2560320"/>
          </a:xfrm>
          <a:prstGeom prst="ellipse">
            <a:avLst/>
          </a:prstGeom>
          <a:solidFill>
            <a:srgbClr val="37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22860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37D2FF"/>
                </a:solidFill>
                <a:latin typeface="Aptos"/>
              </a:defRPr>
            </a:pPr>
            <a:r>
              <a:t>PROJECT 35 • REVIEW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5F7FF"/>
                </a:solidFill>
                <a:latin typeface="Aptos"/>
              </a:defRPr>
            </a:pPr>
            <a:r>
              <a:t>Search &amp; Filtering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0700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B0B8DC"/>
                </a:solidFill>
                <a:latin typeface="Aptos"/>
              </a:defRPr>
            </a:pPr>
            <a:r>
              <a:t>Students can search the internship catalogue by title, organization or city.</a:t>
            </a:r>
          </a:p>
        </p:txBody>
      </p:sp>
      <p:pic>
        <p:nvPicPr>
          <p:cNvPr id="8" name="Picture 7" descr="Screenshot 2026-09-20 122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00200"/>
            <a:ext cx="10835640" cy="4754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6382512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B0B8DC"/>
                </a:solidFill>
                <a:latin typeface="Aptos"/>
              </a:defRPr>
            </a:pPr>
            <a:r>
              <a:t>Prototype evidence: search reduces the displayed internship set based on the entered term.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37960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 b="0">
                <a:solidFill>
                  <a:srgbClr val="B0B8DC"/>
                </a:solidFill>
                <a:latin typeface="Aptos"/>
              </a:defRPr>
            </a:pPr>
            <a:r>
              <a:t>INTERNSHIP APPLICATION &amp; PROGRESS MONITORING SYSTEM •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B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94360" y="22860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37D2FF"/>
                </a:solidFill>
                <a:latin typeface="Aptos"/>
              </a:defRPr>
            </a:pPr>
            <a:r>
              <a:t>PROJECT 35 • REVIEW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5F7FF"/>
                </a:solidFill>
                <a:latin typeface="Aptos"/>
              </a:defRPr>
            </a:pPr>
            <a:r>
              <a:t>Validation &amp; Error Handling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0700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B0B8DC"/>
                </a:solidFill>
                <a:latin typeface="Aptos"/>
              </a:defRPr>
            </a:pPr>
            <a:r>
              <a:t>Validation is enforced at both the application and database levels where applicable.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10744200" cy="658368"/>
          </a:xfrm>
          <a:prstGeom prst="roundRect">
            <a:avLst/>
          </a:prstGeom>
          <a:solidFill>
            <a:srgbClr val="141832"/>
          </a:solidFill>
          <a:ln>
            <a:solidFill>
              <a:srgbClr val="37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764792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37D2FF"/>
                </a:solidFill>
                <a:latin typeface="Aptos"/>
              </a:defRPr>
            </a:pPr>
            <a:r>
              <a:t>REGISTRATION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1719072"/>
            <a:ext cx="8321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5F7FF"/>
                </a:solidFill>
                <a:latin typeface="Aptos"/>
              </a:defRPr>
            </a:pPr>
            <a:r>
              <a:t>Duplicate email is checked before INSERT; password is hashed.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468880"/>
            <a:ext cx="10744200" cy="658368"/>
          </a:xfrm>
          <a:prstGeom prst="roundRect">
            <a:avLst/>
          </a:prstGeom>
          <a:solidFill>
            <a:srgbClr val="141832"/>
          </a:solidFill>
          <a:ln>
            <a:solidFill>
              <a:srgbClr val="845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2633472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8458FF"/>
                </a:solidFill>
                <a:latin typeface="Aptos"/>
              </a:defRPr>
            </a:pPr>
            <a:r>
              <a:t>LOGIN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2587752"/>
            <a:ext cx="8321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5F7FF"/>
                </a:solidFill>
                <a:latin typeface="Aptos"/>
              </a:defRPr>
            </a:pPr>
            <a:r>
              <a:t>Invalid credentials return an error instead of opening the dashboard.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337560"/>
            <a:ext cx="10744200" cy="658368"/>
          </a:xfrm>
          <a:prstGeom prst="roundRect">
            <a:avLst/>
          </a:prstGeom>
          <a:solidFill>
            <a:srgbClr val="141832"/>
          </a:solidFill>
          <a:ln>
            <a:solidFill>
              <a:srgbClr val="EC5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3502152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EC54AD"/>
                </a:solidFill>
                <a:latin typeface="Aptos"/>
              </a:defRPr>
            </a:pPr>
            <a:r>
              <a:t>APPLICATION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3456432"/>
            <a:ext cx="8321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5F7FF"/>
                </a:solidFill>
                <a:latin typeface="Aptos"/>
              </a:defRPr>
            </a:pPr>
            <a:r>
              <a:t>Student must be logged in; duplicate student-opportunity application is prevented by UNIQUE constraint.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206240"/>
            <a:ext cx="10744200" cy="658368"/>
          </a:xfrm>
          <a:prstGeom prst="roundRect">
            <a:avLst/>
          </a:prstGeom>
          <a:solidFill>
            <a:srgbClr val="141832"/>
          </a:solidFill>
          <a:ln>
            <a:solidFill>
              <a:srgbClr val="44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4370831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44DC97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4325112"/>
            <a:ext cx="8321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5F7FF"/>
                </a:solidFill>
                <a:latin typeface="Aptos"/>
              </a:defRPr>
            </a:pPr>
            <a:r>
              <a:t>PK/FK, CHECK, NOT NULL and date/slot/score/rating constraints reject invalid records.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074920"/>
            <a:ext cx="10744200" cy="658368"/>
          </a:xfrm>
          <a:prstGeom prst="roundRect">
            <a:avLst/>
          </a:prstGeom>
          <a:solidFill>
            <a:srgbClr val="141832"/>
          </a:solidFill>
          <a:ln>
            <a:solidFill>
              <a:srgbClr val="FFC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5239512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C758"/>
                </a:solidFill>
                <a:latin typeface="Aptos"/>
              </a:defRPr>
            </a:pPr>
            <a:r>
              <a:t>SESSION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6040" y="5193792"/>
            <a:ext cx="8321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5F7FF"/>
                </a:solidFill>
                <a:latin typeface="Aptos"/>
              </a:defRPr>
            </a:pPr>
            <a:r>
              <a:t>Protected pages redirect unauthenticated users to login.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37960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 b="0">
                <a:solidFill>
                  <a:srgbClr val="B0B8DC"/>
                </a:solidFill>
                <a:latin typeface="Aptos"/>
              </a:defRPr>
            </a:pPr>
            <a:r>
              <a:t>INTERNSHIP APPLICATION &amp; PROGRESS MONITORING SYSTEM •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B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94360" y="22860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37D2FF"/>
                </a:solidFill>
                <a:latin typeface="Aptos"/>
              </a:defRPr>
            </a:pPr>
            <a:r>
              <a:t>PROJECT 35 • REVIEW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5F7FF"/>
                </a:solidFill>
                <a:latin typeface="Aptos"/>
              </a:defRPr>
            </a:pPr>
            <a:r>
              <a:t>Reports &amp; Database Queries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0700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B0B8DC"/>
                </a:solidFill>
                <a:latin typeface="Aptos"/>
              </a:defRPr>
            </a:pPr>
            <a:r>
              <a:t>The implementation supports joins, aggregation and a consolidated assignment report.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5166360" cy="868680"/>
          </a:xfrm>
          <a:prstGeom prst="roundRect">
            <a:avLst/>
          </a:prstGeom>
          <a:solidFill>
            <a:srgbClr val="141832"/>
          </a:solidFill>
          <a:ln>
            <a:solidFill>
              <a:srgbClr val="37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1728216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37D2FF"/>
                </a:solidFill>
                <a:latin typeface="Aptos"/>
              </a:defRPr>
            </a:pPr>
            <a:r>
              <a:t>Applications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1709928"/>
            <a:ext cx="30632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19" b="0">
                <a:solidFill>
                  <a:srgbClr val="B0B8DC"/>
                </a:solidFill>
                <a:latin typeface="Aptos"/>
              </a:defRPr>
            </a:pPr>
            <a:r>
              <a:t>Student + opportunity + organization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600200"/>
            <a:ext cx="5166360" cy="868680"/>
          </a:xfrm>
          <a:prstGeom prst="roundRect">
            <a:avLst/>
          </a:prstGeom>
          <a:solidFill>
            <a:srgbClr val="141832"/>
          </a:solidFill>
          <a:ln>
            <a:solidFill>
              <a:srgbClr val="845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73952" y="1728216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8458FF"/>
                </a:solidFill>
                <a:latin typeface="Aptos"/>
              </a:defRPr>
            </a:pPr>
            <a:r>
              <a:t>Approved internships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1709928"/>
            <a:ext cx="30632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19" b="0">
                <a:solidFill>
                  <a:srgbClr val="B0B8DC"/>
                </a:solidFill>
                <a:latin typeface="Aptos"/>
              </a:defRPr>
            </a:pPr>
            <a:r>
              <a:t>Applications filtered by Approved status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743200"/>
            <a:ext cx="5166360" cy="868680"/>
          </a:xfrm>
          <a:prstGeom prst="roundRect">
            <a:avLst/>
          </a:prstGeom>
          <a:solidFill>
            <a:srgbClr val="141832"/>
          </a:solidFill>
          <a:ln>
            <a:solidFill>
              <a:srgbClr val="EC5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0392" y="2871216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EC54AD"/>
                </a:solidFill>
                <a:latin typeface="Aptos"/>
              </a:defRPr>
            </a:pPr>
            <a:r>
              <a:t>Weekly progress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2852928"/>
            <a:ext cx="30632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19" b="0">
                <a:solidFill>
                  <a:srgbClr val="B0B8DC"/>
                </a:solidFill>
                <a:latin typeface="Aptos"/>
              </a:defRPr>
            </a:pPr>
            <a:r>
              <a:t>Assignment + weekly_log + opportunity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743200"/>
            <a:ext cx="5166360" cy="868680"/>
          </a:xfrm>
          <a:prstGeom prst="roundRect">
            <a:avLst/>
          </a:prstGeom>
          <a:solidFill>
            <a:srgbClr val="141832"/>
          </a:solidFill>
          <a:ln>
            <a:solidFill>
              <a:srgbClr val="44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73952" y="2871216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44DC97"/>
                </a:solidFill>
                <a:latin typeface="Aptos"/>
              </a:defRPr>
            </a:pPr>
            <a:r>
              <a:t>Evaluation 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2852928"/>
            <a:ext cx="30632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19" b="0">
                <a:solidFill>
                  <a:srgbClr val="B0B8DC"/>
                </a:solidFill>
                <a:latin typeface="Aptos"/>
              </a:defRPr>
            </a:pPr>
            <a:r>
              <a:t>Student + internship + evaluator + score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886200"/>
            <a:ext cx="5166360" cy="868680"/>
          </a:xfrm>
          <a:prstGeom prst="roundRect">
            <a:avLst/>
          </a:prstGeom>
          <a:solidFill>
            <a:srgbClr val="141832"/>
          </a:solidFill>
          <a:ln>
            <a:solidFill>
              <a:srgbClr val="FFC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0392" y="4014215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C758"/>
                </a:solidFill>
                <a:latin typeface="Aptos"/>
              </a:defRPr>
            </a:pPr>
            <a:r>
              <a:t>Assignment report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3995928"/>
            <a:ext cx="30632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19" b="0">
                <a:solidFill>
                  <a:srgbClr val="B0B8DC"/>
                </a:solidFill>
                <a:latin typeface="Aptos"/>
              </a:defRPr>
            </a:pPr>
            <a:r>
              <a:t>internship_assignment_report view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886200"/>
            <a:ext cx="5166360" cy="868680"/>
          </a:xfrm>
          <a:prstGeom prst="roundRect">
            <a:avLst/>
          </a:prstGeom>
          <a:solidFill>
            <a:srgbClr val="141832"/>
          </a:solidFill>
          <a:ln>
            <a:solidFill>
              <a:srgbClr val="37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73952" y="4014215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37D2FF"/>
                </a:solidFill>
                <a:latin typeface="Aptos"/>
              </a:defRPr>
            </a:pPr>
            <a:r>
              <a:t>Admin statistics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3995928"/>
            <a:ext cx="30632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19" b="0">
                <a:solidFill>
                  <a:srgbClr val="B0B8DC"/>
                </a:solidFill>
                <a:latin typeface="Aptos"/>
              </a:defRPr>
            </a:pPr>
            <a:r>
              <a:t>Counts of students, organizations, opportunities, applications and assignments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37960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 b="0">
                <a:solidFill>
                  <a:srgbClr val="B0B8DC"/>
                </a:solidFill>
                <a:latin typeface="Aptos"/>
              </a:defRPr>
            </a:pPr>
            <a:r>
              <a:t>INTERNSHIP APPLICATION &amp; PROGRESS MONITORING SYSTEM •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B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4572000" y="2560320"/>
            <a:ext cx="4114800" cy="2560320"/>
          </a:xfrm>
          <a:prstGeom prst="ellipse">
            <a:avLst/>
          </a:prstGeom>
          <a:solidFill>
            <a:srgbClr val="EC5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22860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37D2FF"/>
                </a:solidFill>
                <a:latin typeface="Aptos"/>
              </a:defRPr>
            </a:pPr>
            <a:r>
              <a:t>PROJECT 35 • REVIEW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5F7FF"/>
                </a:solidFill>
                <a:latin typeface="Aptos"/>
              </a:defRPr>
            </a:pPr>
            <a:r>
              <a:t>System 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0700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B0B8DC"/>
                </a:solidFill>
                <a:latin typeface="Aptos"/>
              </a:defRPr>
            </a:pPr>
            <a:r>
              <a:t>Representative test cases prepared for the final demonstration.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600200"/>
            <a:ext cx="3017520" cy="365760"/>
          </a:xfrm>
          <a:prstGeom prst="rect">
            <a:avLst/>
          </a:prstGeom>
          <a:solidFill>
            <a:srgbClr val="8458FF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292607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 b="1">
                <a:solidFill>
                  <a:srgbClr val="F5F7FF"/>
                </a:solidFill>
                <a:latin typeface="Aptos"/>
              </a:defRPr>
            </a:pPr>
            <a:r>
              <a:t>TEST CASE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11879" y="1600200"/>
            <a:ext cx="5852160" cy="365760"/>
          </a:xfrm>
          <a:prstGeom prst="rect">
            <a:avLst/>
          </a:prstGeom>
          <a:solidFill>
            <a:srgbClr val="8458FF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599" y="1645920"/>
            <a:ext cx="5760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 b="1">
                <a:solidFill>
                  <a:srgbClr val="F5F7FF"/>
                </a:solidFill>
                <a:latin typeface="Aptos"/>
              </a:defRPr>
            </a:pPr>
            <a:r>
              <a:t>EXPECTED RESULT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64040" y="1600200"/>
            <a:ext cx="1920240" cy="365760"/>
          </a:xfrm>
          <a:prstGeom prst="rect">
            <a:avLst/>
          </a:prstGeom>
          <a:solidFill>
            <a:srgbClr val="8458FF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509760" y="1645920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 b="1">
                <a:solidFill>
                  <a:srgbClr val="F5F7FF"/>
                </a:solidFill>
                <a:latin typeface="Aptos"/>
              </a:defRPr>
            </a:pPr>
            <a:r>
              <a:t>STATUS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1965960"/>
            <a:ext cx="3017520" cy="448056"/>
          </a:xfrm>
          <a:prstGeom prst="rect">
            <a:avLst/>
          </a:prstGeom>
          <a:solidFill>
            <a:srgbClr val="141832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2039112"/>
            <a:ext cx="29260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60" b="0">
                <a:solidFill>
                  <a:srgbClr val="F5F7FF"/>
                </a:solidFill>
                <a:latin typeface="Aptos"/>
              </a:defRPr>
            </a:pPr>
            <a:r>
              <a:t>New student registration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11879" y="1965960"/>
            <a:ext cx="5852160" cy="448056"/>
          </a:xfrm>
          <a:prstGeom prst="rect">
            <a:avLst/>
          </a:prstGeom>
          <a:solidFill>
            <a:srgbClr val="141832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599" y="2039112"/>
            <a:ext cx="5760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60" b="0">
                <a:solidFill>
                  <a:srgbClr val="F5F7FF"/>
                </a:solidFill>
                <a:latin typeface="Aptos"/>
              </a:defRPr>
            </a:pPr>
            <a:r>
              <a:t>Account created and dashboard session established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64040" y="1965960"/>
            <a:ext cx="1920240" cy="448056"/>
          </a:xfrm>
          <a:prstGeom prst="rect">
            <a:avLst/>
          </a:prstGeom>
          <a:solidFill>
            <a:srgbClr val="141832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09760" y="203911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60" b="1">
                <a:solidFill>
                  <a:srgbClr val="44DC97"/>
                </a:solidFill>
                <a:latin typeface="Aptos"/>
              </a:defRPr>
            </a:pPr>
            <a:r>
              <a:t>PASS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2414015"/>
            <a:ext cx="3017520" cy="448056"/>
          </a:xfrm>
          <a:prstGeom prst="rect">
            <a:avLst/>
          </a:prstGeom>
          <a:solidFill>
            <a:srgbClr val="1C2042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2487168"/>
            <a:ext cx="29260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60" b="0">
                <a:solidFill>
                  <a:srgbClr val="F5F7FF"/>
                </a:solidFill>
                <a:latin typeface="Aptos"/>
              </a:defRPr>
            </a:pPr>
            <a:r>
              <a:t>Duplicate email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11879" y="2414015"/>
            <a:ext cx="5852160" cy="448056"/>
          </a:xfrm>
          <a:prstGeom prst="rect">
            <a:avLst/>
          </a:prstGeom>
          <a:solidFill>
            <a:srgbClr val="1C2042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57599" y="2487168"/>
            <a:ext cx="5760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60" b="0">
                <a:solidFill>
                  <a:srgbClr val="F5F7FF"/>
                </a:solidFill>
                <a:latin typeface="Aptos"/>
              </a:defRPr>
            </a:pPr>
            <a:r>
              <a:t>Registration blocked with message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64040" y="2414015"/>
            <a:ext cx="1920240" cy="448056"/>
          </a:xfrm>
          <a:prstGeom prst="rect">
            <a:avLst/>
          </a:prstGeom>
          <a:solidFill>
            <a:srgbClr val="1C2042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509760" y="248716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60" b="1">
                <a:solidFill>
                  <a:srgbClr val="44DC97"/>
                </a:solidFill>
                <a:latin typeface="Aptos"/>
              </a:defRPr>
            </a:pPr>
            <a:r>
              <a:t>PASS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2862072"/>
            <a:ext cx="3017520" cy="448056"/>
          </a:xfrm>
          <a:prstGeom prst="rect">
            <a:avLst/>
          </a:prstGeom>
          <a:solidFill>
            <a:srgbClr val="141832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" y="2935224"/>
            <a:ext cx="29260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60" b="0">
                <a:solidFill>
                  <a:srgbClr val="F5F7FF"/>
                </a:solidFill>
                <a:latin typeface="Aptos"/>
              </a:defRPr>
            </a:pPr>
            <a:r>
              <a:t>Valid login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11879" y="2862072"/>
            <a:ext cx="5852160" cy="448056"/>
          </a:xfrm>
          <a:prstGeom prst="rect">
            <a:avLst/>
          </a:prstGeom>
          <a:solidFill>
            <a:srgbClr val="141832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57599" y="2935224"/>
            <a:ext cx="5760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60" b="0">
                <a:solidFill>
                  <a:srgbClr val="F5F7FF"/>
                </a:solidFill>
                <a:latin typeface="Aptos"/>
              </a:defRPr>
            </a:pPr>
            <a:r>
              <a:t>Dashboard opens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464040" y="2862072"/>
            <a:ext cx="1920240" cy="448056"/>
          </a:xfrm>
          <a:prstGeom prst="rect">
            <a:avLst/>
          </a:prstGeom>
          <a:solidFill>
            <a:srgbClr val="141832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509760" y="2935224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60" b="1">
                <a:solidFill>
                  <a:srgbClr val="44DC97"/>
                </a:solidFill>
                <a:latin typeface="Aptos"/>
              </a:defRPr>
            </a:pPr>
            <a:r>
              <a:t>PASS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3310128"/>
            <a:ext cx="3017520" cy="448056"/>
          </a:xfrm>
          <a:prstGeom prst="rect">
            <a:avLst/>
          </a:prstGeom>
          <a:solidFill>
            <a:srgbClr val="1C2042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3383280"/>
            <a:ext cx="29260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60" b="0">
                <a:solidFill>
                  <a:srgbClr val="F5F7FF"/>
                </a:solidFill>
                <a:latin typeface="Aptos"/>
              </a:defRPr>
            </a:pPr>
            <a:r>
              <a:t>Invalid login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11879" y="3310128"/>
            <a:ext cx="5852160" cy="448056"/>
          </a:xfrm>
          <a:prstGeom prst="rect">
            <a:avLst/>
          </a:prstGeom>
          <a:solidFill>
            <a:srgbClr val="1C2042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57599" y="3383280"/>
            <a:ext cx="5760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60" b="0">
                <a:solidFill>
                  <a:srgbClr val="F5F7FF"/>
                </a:solidFill>
                <a:latin typeface="Aptos"/>
              </a:defRPr>
            </a:pPr>
            <a:r>
              <a:t>Login error shown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464040" y="3310128"/>
            <a:ext cx="1920240" cy="448056"/>
          </a:xfrm>
          <a:prstGeom prst="rect">
            <a:avLst/>
          </a:prstGeom>
          <a:solidFill>
            <a:srgbClr val="1C2042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509760" y="33832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60" b="1">
                <a:solidFill>
                  <a:srgbClr val="44DC97"/>
                </a:solidFill>
                <a:latin typeface="Aptos"/>
              </a:defRPr>
            </a:pPr>
            <a:r>
              <a:t>PASS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" y="3758183"/>
            <a:ext cx="3017520" cy="448056"/>
          </a:xfrm>
          <a:prstGeom prst="rect">
            <a:avLst/>
          </a:prstGeom>
          <a:solidFill>
            <a:srgbClr val="141832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080" y="3831335"/>
            <a:ext cx="29260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60" b="0">
                <a:solidFill>
                  <a:srgbClr val="F5F7FF"/>
                </a:solidFill>
                <a:latin typeface="Aptos"/>
              </a:defRPr>
            </a:pPr>
            <a:r>
              <a:t>Search internship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11879" y="3758183"/>
            <a:ext cx="5852160" cy="448056"/>
          </a:xfrm>
          <a:prstGeom prst="rect">
            <a:avLst/>
          </a:prstGeom>
          <a:solidFill>
            <a:srgbClr val="141832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657599" y="3831335"/>
            <a:ext cx="5760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60" b="0">
                <a:solidFill>
                  <a:srgbClr val="F5F7FF"/>
                </a:solidFill>
                <a:latin typeface="Aptos"/>
              </a:defRPr>
            </a:pPr>
            <a:r>
              <a:t>Matching internships displayed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464040" y="3758183"/>
            <a:ext cx="1920240" cy="448056"/>
          </a:xfrm>
          <a:prstGeom prst="rect">
            <a:avLst/>
          </a:prstGeom>
          <a:solidFill>
            <a:srgbClr val="141832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509760" y="3831335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60" b="1">
                <a:solidFill>
                  <a:srgbClr val="44DC97"/>
                </a:solidFill>
                <a:latin typeface="Aptos"/>
              </a:defRPr>
            </a:pPr>
            <a:r>
              <a:t>PASS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" y="4206240"/>
            <a:ext cx="3017520" cy="448056"/>
          </a:xfrm>
          <a:prstGeom prst="rect">
            <a:avLst/>
          </a:prstGeom>
          <a:solidFill>
            <a:srgbClr val="1C2042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0080" y="4279392"/>
            <a:ext cx="29260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60" b="0">
                <a:solidFill>
                  <a:srgbClr val="F5F7FF"/>
                </a:solidFill>
                <a:latin typeface="Aptos"/>
              </a:defRPr>
            </a:pPr>
            <a:r>
              <a:t>Apply for internship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11879" y="4206240"/>
            <a:ext cx="5852160" cy="448056"/>
          </a:xfrm>
          <a:prstGeom prst="rect">
            <a:avLst/>
          </a:prstGeom>
          <a:solidFill>
            <a:srgbClr val="1C2042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657599" y="4279392"/>
            <a:ext cx="5760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60" b="0">
                <a:solidFill>
                  <a:srgbClr val="F5F7FF"/>
                </a:solidFill>
                <a:latin typeface="Aptos"/>
              </a:defRPr>
            </a:pPr>
            <a:r>
              <a:t>Application stored in MySQL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464040" y="4206240"/>
            <a:ext cx="1920240" cy="448056"/>
          </a:xfrm>
          <a:prstGeom prst="rect">
            <a:avLst/>
          </a:prstGeom>
          <a:solidFill>
            <a:srgbClr val="1C2042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509760" y="427939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60" b="1">
                <a:solidFill>
                  <a:srgbClr val="44DC97"/>
                </a:solidFill>
                <a:latin typeface="Aptos"/>
              </a:defRPr>
            </a:pPr>
            <a:r>
              <a:t>PASS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4360" y="4654296"/>
            <a:ext cx="3017520" cy="448056"/>
          </a:xfrm>
          <a:prstGeom prst="rect">
            <a:avLst/>
          </a:prstGeom>
          <a:solidFill>
            <a:srgbClr val="141832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40080" y="4727448"/>
            <a:ext cx="29260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60" b="0">
                <a:solidFill>
                  <a:srgbClr val="F5F7FF"/>
                </a:solidFill>
                <a:latin typeface="Aptos"/>
              </a:defRPr>
            </a:pPr>
            <a:r>
              <a:t>Duplicate application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11879" y="4654296"/>
            <a:ext cx="5852160" cy="448056"/>
          </a:xfrm>
          <a:prstGeom prst="rect">
            <a:avLst/>
          </a:prstGeom>
          <a:solidFill>
            <a:srgbClr val="141832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657599" y="4727448"/>
            <a:ext cx="5760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60" b="0">
                <a:solidFill>
                  <a:srgbClr val="F5F7FF"/>
                </a:solidFill>
                <a:latin typeface="Aptos"/>
              </a:defRPr>
            </a:pPr>
            <a:r>
              <a:t>UNIQUE rule prevents duplicate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464040" y="4654296"/>
            <a:ext cx="1920240" cy="448056"/>
          </a:xfrm>
          <a:prstGeom prst="rect">
            <a:avLst/>
          </a:prstGeom>
          <a:solidFill>
            <a:srgbClr val="141832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509760" y="47274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60" b="1">
                <a:solidFill>
                  <a:srgbClr val="44DC97"/>
                </a:solidFill>
                <a:latin typeface="Aptos"/>
              </a:defRPr>
            </a:pPr>
            <a:r>
              <a:t>PASS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4360" y="5102352"/>
            <a:ext cx="3017520" cy="448056"/>
          </a:xfrm>
          <a:prstGeom prst="rect">
            <a:avLst/>
          </a:prstGeom>
          <a:solidFill>
            <a:srgbClr val="1C2042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40080" y="5175504"/>
            <a:ext cx="29260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60" b="0">
                <a:solidFill>
                  <a:srgbClr val="F5F7FF"/>
                </a:solidFill>
                <a:latin typeface="Aptos"/>
              </a:defRPr>
            </a:pPr>
            <a:r>
              <a:t>Protected page without login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11879" y="5102352"/>
            <a:ext cx="5852160" cy="448056"/>
          </a:xfrm>
          <a:prstGeom prst="rect">
            <a:avLst/>
          </a:prstGeom>
          <a:solidFill>
            <a:srgbClr val="1C2042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657599" y="5175504"/>
            <a:ext cx="5760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60" b="0">
                <a:solidFill>
                  <a:srgbClr val="F5F7FF"/>
                </a:solidFill>
                <a:latin typeface="Aptos"/>
              </a:defRPr>
            </a:pPr>
            <a:r>
              <a:t>Redirected to login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464040" y="5102352"/>
            <a:ext cx="1920240" cy="448056"/>
          </a:xfrm>
          <a:prstGeom prst="rect">
            <a:avLst/>
          </a:prstGeom>
          <a:solidFill>
            <a:srgbClr val="1C2042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509760" y="5175504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60" b="1">
                <a:solidFill>
                  <a:srgbClr val="44DC97"/>
                </a:solidFill>
                <a:latin typeface="Aptos"/>
              </a:defRPr>
            </a:pPr>
            <a:r>
              <a:t>PASS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94360" y="5550408"/>
            <a:ext cx="3017520" cy="448056"/>
          </a:xfrm>
          <a:prstGeom prst="rect">
            <a:avLst/>
          </a:prstGeom>
          <a:solidFill>
            <a:srgbClr val="141832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40080" y="5623560"/>
            <a:ext cx="29260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60" b="0">
                <a:solidFill>
                  <a:srgbClr val="F5F7FF"/>
                </a:solidFill>
                <a:latin typeface="Aptos"/>
              </a:defRPr>
            </a:pPr>
            <a:r>
              <a:t>Admin create/update/delete opportunity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11879" y="5550408"/>
            <a:ext cx="5852160" cy="448056"/>
          </a:xfrm>
          <a:prstGeom prst="rect">
            <a:avLst/>
          </a:prstGeom>
          <a:solidFill>
            <a:srgbClr val="141832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3657599" y="5623560"/>
            <a:ext cx="5760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60" b="0">
                <a:solidFill>
                  <a:srgbClr val="F5F7FF"/>
                </a:solidFill>
                <a:latin typeface="Aptos"/>
              </a:defRPr>
            </a:pPr>
            <a:r>
              <a:t>Database record changes accordingly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464040" y="5550408"/>
            <a:ext cx="1920240" cy="448056"/>
          </a:xfrm>
          <a:prstGeom prst="rect">
            <a:avLst/>
          </a:prstGeom>
          <a:solidFill>
            <a:srgbClr val="141832"/>
          </a:solidFill>
          <a:ln>
            <a:solidFill>
              <a:srgbClr val="090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509760" y="56235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60" b="1">
                <a:solidFill>
                  <a:srgbClr val="44DC97"/>
                </a:solidFill>
                <a:latin typeface="Aptos"/>
              </a:defRPr>
            </a:pPr>
            <a:r>
              <a:t>PASS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94360" y="6537960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 b="0">
                <a:solidFill>
                  <a:srgbClr val="B0B8DC"/>
                </a:solidFill>
                <a:latin typeface="Aptos"/>
              </a:defRPr>
            </a:pPr>
            <a:r>
              <a:t>INTERNSHIP APPLICATION &amp; PROGRESS MONITORING SYSTEM •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B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4572000" y="2560320"/>
            <a:ext cx="4114800" cy="2560320"/>
          </a:xfrm>
          <a:prstGeom prst="ellipse">
            <a:avLst/>
          </a:prstGeom>
          <a:solidFill>
            <a:srgbClr val="37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22860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37D2FF"/>
                </a:solidFill>
                <a:latin typeface="Aptos"/>
              </a:defRPr>
            </a:pPr>
            <a:r>
              <a:t>PROJECT 35 • REVIEW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5F7FF"/>
                </a:solidFill>
                <a:latin typeface="Aptos"/>
              </a:defRPr>
            </a:pPr>
            <a:r>
              <a:t>Final Output Screens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0700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B0B8DC"/>
                </a:solidFill>
                <a:latin typeface="Aptos"/>
              </a:defRPr>
            </a:pPr>
            <a:r>
              <a:t>Evidence of the completed user-facing prototype.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00200"/>
            <a:ext cx="3657600" cy="4434840"/>
          </a:xfrm>
          <a:prstGeom prst="roundRect">
            <a:avLst/>
          </a:prstGeom>
          <a:solidFill>
            <a:srgbClr val="141832"/>
          </a:solidFill>
          <a:ln>
            <a:solidFill>
              <a:srgbClr val="37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creenshot 2026-09-20 1219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673352"/>
            <a:ext cx="3511296" cy="402335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5760720"/>
            <a:ext cx="3474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5F7FF"/>
                </a:solidFill>
                <a:latin typeface="Aptos"/>
              </a:defRPr>
            </a:pPr>
            <a:r>
              <a:t>Internship catalogue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600200"/>
            <a:ext cx="3657600" cy="4434840"/>
          </a:xfrm>
          <a:prstGeom prst="roundRect">
            <a:avLst/>
          </a:prstGeom>
          <a:solidFill>
            <a:srgbClr val="141832"/>
          </a:solidFill>
          <a:ln>
            <a:solidFill>
              <a:srgbClr val="37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Screenshot 2026-09-20 1219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5112" y="1673352"/>
            <a:ext cx="3511296" cy="402335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343400" y="5760720"/>
            <a:ext cx="3474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5F7FF"/>
                </a:solidFill>
                <a:latin typeface="Aptos"/>
              </a:defRPr>
            </a:pPr>
            <a:r>
              <a:t>Login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600200"/>
            <a:ext cx="3657600" cy="4434840"/>
          </a:xfrm>
          <a:prstGeom prst="roundRect">
            <a:avLst/>
          </a:prstGeom>
          <a:solidFill>
            <a:srgbClr val="141832"/>
          </a:solidFill>
          <a:ln>
            <a:solidFill>
              <a:srgbClr val="37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Screenshot 2026-09-20 12194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4152" y="1673352"/>
            <a:ext cx="3511296" cy="402335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092440" y="5760720"/>
            <a:ext cx="3474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5F7FF"/>
                </a:solidFill>
                <a:latin typeface="Aptos"/>
              </a:defRPr>
            </a:pPr>
            <a:r>
              <a:t>Registration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37960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 b="0">
                <a:solidFill>
                  <a:srgbClr val="B0B8DC"/>
                </a:solidFill>
                <a:latin typeface="Aptos"/>
              </a:defRPr>
            </a:pPr>
            <a:r>
              <a:t>INTERNSHIP APPLICATION &amp; PROGRESS MONITORING SYSTEM •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B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4572000" y="2560320"/>
            <a:ext cx="4114800" cy="2560320"/>
          </a:xfrm>
          <a:prstGeom prst="ellipse">
            <a:avLst/>
          </a:prstGeom>
          <a:solidFill>
            <a:srgbClr val="84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22860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37D2FF"/>
                </a:solidFill>
                <a:latin typeface="Aptos"/>
              </a:defRPr>
            </a:pPr>
            <a:r>
              <a:t>PROJECT 35 • REVIEW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5F7FF"/>
                </a:solidFill>
                <a:latin typeface="Aptos"/>
              </a:defRPr>
            </a:pPr>
            <a:r>
              <a:t>Authenticated Student Experience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0700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B0B8DC"/>
                </a:solidFill>
                <a:latin typeface="Aptos"/>
              </a:defRPr>
            </a:pPr>
            <a:r>
              <a:t>After login, the navigation exposes dashboard, applications, progress and results.</a:t>
            </a:r>
          </a:p>
        </p:txBody>
      </p:sp>
      <p:pic>
        <p:nvPicPr>
          <p:cNvPr id="8" name="Picture 7" descr="Screenshot 2026-09-20 1219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54480"/>
            <a:ext cx="10835640" cy="4892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6382512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B0B8DC"/>
                </a:solidFill>
                <a:latin typeface="Aptos"/>
              </a:defRPr>
            </a:pPr>
            <a:r>
              <a:t>Logged-in navigation and student-specific workflow.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37960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 b="0">
                <a:solidFill>
                  <a:srgbClr val="B0B8DC"/>
                </a:solidFill>
                <a:latin typeface="Aptos"/>
              </a:defRPr>
            </a:pPr>
            <a:r>
              <a:t>INTERNSHIP APPLICATION &amp; PROGRESS MONITORING SYSTEM •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741</Words>
  <Application>Microsoft Office PowerPoint</Application>
  <PresentationFormat>Widescreen</PresentationFormat>
  <Paragraphs>140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Dattu Suragana</cp:lastModifiedBy>
  <cp:revision>3</cp:revision>
  <dcterms:created xsi:type="dcterms:W3CDTF">2013-01-27T09:14:16Z</dcterms:created>
  <dcterms:modified xsi:type="dcterms:W3CDTF">2026-09-20T07:24:41Z</dcterms:modified>
  <cp:category/>
</cp:coreProperties>
</file>